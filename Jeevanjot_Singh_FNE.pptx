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2" r:id="rId4"/>
    <p:sldId id="257" r:id="rId5"/>
    <p:sldId id="263" r:id="rId6"/>
    <p:sldId id="261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62" d="100"/>
          <a:sy n="62" d="100"/>
        </p:scale>
        <p:origin x="151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54E2-7D82-48EE-BE4C-4FD18C32D24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55D7-CEBD-4B20-8812-895353458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727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54E2-7D82-48EE-BE4C-4FD18C32D24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55D7-CEBD-4B20-8812-895353458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819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54E2-7D82-48EE-BE4C-4FD18C32D24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55D7-CEBD-4B20-8812-895353458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643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54E2-7D82-48EE-BE4C-4FD18C32D24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55D7-CEBD-4B20-8812-895353458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640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54E2-7D82-48EE-BE4C-4FD18C32D24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55D7-CEBD-4B20-8812-895353458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150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54E2-7D82-48EE-BE4C-4FD18C32D24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55D7-CEBD-4B20-8812-895353458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643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54E2-7D82-48EE-BE4C-4FD18C32D24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55D7-CEBD-4B20-8812-895353458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32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54E2-7D82-48EE-BE4C-4FD18C32D24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55D7-CEBD-4B20-8812-895353458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67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54E2-7D82-48EE-BE4C-4FD18C32D24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55D7-CEBD-4B20-8812-895353458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674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54E2-7D82-48EE-BE4C-4FD18C32D24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55D7-CEBD-4B20-8812-895353458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476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54E2-7D82-48EE-BE4C-4FD18C32D24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55D7-CEBD-4B20-8812-895353458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575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54E2-7D82-48EE-BE4C-4FD18C32D24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55D7-CEBD-4B20-8812-89535345856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32082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54E2-7D82-48EE-BE4C-4FD18C32D24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55D7-CEBD-4B20-8812-895353458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521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54E2-7D82-48EE-BE4C-4FD18C32D24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55D7-CEBD-4B20-8812-895353458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512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54E2-7D82-48EE-BE4C-4FD18C32D24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55D7-CEBD-4B20-8812-895353458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78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54E2-7D82-48EE-BE4C-4FD18C32D24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55D7-CEBD-4B20-8812-895353458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4656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54E2-7D82-48EE-BE4C-4FD18C32D24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55D7-CEBD-4B20-8812-895353458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570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0E854E2-7D82-48EE-BE4C-4FD18C32D24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E3C55D7-CEBD-4B20-8812-895353458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8620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4DC57-48DA-0FFF-26A3-A3305490E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91670" y="1800362"/>
            <a:ext cx="9440034" cy="1828801"/>
          </a:xfrm>
        </p:spPr>
        <p:txBody>
          <a:bodyPr>
            <a:normAutofit fontScale="90000"/>
          </a:bodyPr>
          <a:lstStyle/>
          <a:p>
            <a:r>
              <a:rPr lang="en-US" dirty="0"/>
              <a:t>Fog And Edge: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SmartPark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E14D17-03F8-A515-BFE0-BA186E954F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1988" y="5808133"/>
            <a:ext cx="9440034" cy="1049867"/>
          </a:xfrm>
        </p:spPr>
        <p:txBody>
          <a:bodyPr/>
          <a:lstStyle/>
          <a:p>
            <a:r>
              <a:rPr lang="en-US" dirty="0"/>
              <a:t>Jeevanjot Singh</a:t>
            </a:r>
          </a:p>
          <a:p>
            <a:r>
              <a:rPr lang="en-US" dirty="0"/>
              <a:t>24231584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7179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A781463-0EB6-B069-8362-D0C26183D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609599"/>
            <a:ext cx="3413156" cy="5273675"/>
          </a:xfrm>
        </p:spPr>
        <p:txBody>
          <a:bodyPr>
            <a:normAutofit/>
          </a:bodyPr>
          <a:lstStyle/>
          <a:p>
            <a:r>
              <a:rPr lang="en-IN" sz="2800" b="1">
                <a:effectLst/>
              </a:rPr>
              <a:t>✅ FUNCTIONAL REQUIREMENTS</a:t>
            </a:r>
            <a:br>
              <a:rPr lang="en-IN" sz="2800" b="1">
                <a:effectLst/>
              </a:rPr>
            </a:br>
            <a:endParaRPr lang="en-IN" sz="28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577D423-FE81-4236-89DE-39776B810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641" y="609599"/>
            <a:ext cx="6889687" cy="5273675"/>
          </a:xfrm>
          <a:prstGeom prst="rect">
            <a:avLst/>
          </a:prstGeom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7312A30-F2D1-F78B-782F-8F8ED15BC3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0588371"/>
              </p:ext>
            </p:extLst>
          </p:nvPr>
        </p:nvGraphicFramePr>
        <p:xfrm>
          <a:off x="5041681" y="887213"/>
          <a:ext cx="6142452" cy="5020314"/>
        </p:xfrm>
        <a:graphic>
          <a:graphicData uri="http://schemas.openxmlformats.org/drawingml/2006/table">
            <a:tbl>
              <a:tblPr/>
              <a:tblGrid>
                <a:gridCol w="1578031">
                  <a:extLst>
                    <a:ext uri="{9D8B030D-6E8A-4147-A177-3AD203B41FA5}">
                      <a16:colId xmlns:a16="http://schemas.microsoft.com/office/drawing/2014/main" val="1721584960"/>
                    </a:ext>
                  </a:extLst>
                </a:gridCol>
                <a:gridCol w="4564421">
                  <a:extLst>
                    <a:ext uri="{9D8B030D-6E8A-4147-A177-3AD203B41FA5}">
                      <a16:colId xmlns:a16="http://schemas.microsoft.com/office/drawing/2014/main" val="4169780579"/>
                    </a:ext>
                  </a:extLst>
                </a:gridCol>
              </a:tblGrid>
              <a:tr h="276975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700" b="1">
                          <a:effectLst/>
                          <a:latin typeface="inherit"/>
                        </a:rPr>
                        <a:t>Term</a:t>
                      </a:r>
                    </a:p>
                  </a:txBody>
                  <a:tcPr marL="23967" marR="23967" marT="23967" marB="23967">
                    <a:lnL>
                      <a:noFill/>
                    </a:lnL>
                    <a:lnR w="5639" cap="flat" cmpd="sng" algn="ctr">
                      <a:solidFill>
                        <a:srgbClr val="803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006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A05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700" b="1">
                          <a:effectLst/>
                          <a:latin typeface="inherit"/>
                        </a:rPr>
                        <a:t>Explanation</a:t>
                      </a:r>
                    </a:p>
                  </a:txBody>
                  <a:tcPr marL="23967" marR="23967" marT="23967" marB="23967">
                    <a:lnL w="5639" cap="flat" cmpd="sng" algn="ctr">
                      <a:solidFill>
                        <a:srgbClr val="803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639" cap="flat" cmpd="sng" algn="ctr">
                      <a:solidFill>
                        <a:srgbClr val="803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C05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045119"/>
                  </a:ext>
                </a:extLst>
              </a:tr>
              <a:tr h="456989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700" b="1">
                          <a:effectLst/>
                          <a:latin typeface="inherit"/>
                        </a:rPr>
                        <a:t>mTLS</a:t>
                      </a:r>
                      <a:endParaRPr lang="en-IN" sz="1700">
                        <a:effectLst/>
                        <a:latin typeface="inherit"/>
                      </a:endParaRPr>
                    </a:p>
                  </a:txBody>
                  <a:tcPr marL="23967" marR="23967" marT="23967" marB="23967">
                    <a:lnL>
                      <a:noFill/>
                    </a:lnL>
                    <a:lnR w="5639" cap="flat" cmpd="sng" algn="ctr">
                      <a:solidFill>
                        <a:srgbClr val="C05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A05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006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US" sz="1700">
                          <a:effectLst/>
                          <a:latin typeface="inherit"/>
                        </a:rPr>
                        <a:t>Mutual TLS - both client &amp; server authenticate with certificates[AWS Certs]</a:t>
                      </a:r>
                    </a:p>
                  </a:txBody>
                  <a:tcPr marL="23967" marR="23967" marT="23967" marB="23967">
                    <a:lnL w="5639" cap="flat" cmpd="sng" algn="ctr">
                      <a:solidFill>
                        <a:srgbClr val="C05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639" cap="flat" cmpd="sng" algn="ctr">
                      <a:solidFill>
                        <a:srgbClr val="C05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905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875084"/>
                  </a:ext>
                </a:extLst>
              </a:tr>
              <a:tr h="456989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700" b="1">
                          <a:effectLst/>
                          <a:latin typeface="inherit"/>
                        </a:rPr>
                        <a:t>QoS 1</a:t>
                      </a:r>
                      <a:endParaRPr lang="en-IN" sz="1700">
                        <a:effectLst/>
                        <a:latin typeface="inherit"/>
                      </a:endParaRPr>
                    </a:p>
                  </a:txBody>
                  <a:tcPr marL="23967" marR="23967" marT="23967" marB="23967">
                    <a:lnL>
                      <a:noFill/>
                    </a:lnL>
                    <a:lnR w="5639" cap="flat" cmpd="sng" algn="ctr">
                      <a:solidFill>
                        <a:srgbClr val="905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006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B05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US" sz="1700">
                          <a:effectLst/>
                          <a:latin typeface="inherit"/>
                        </a:rPr>
                        <a:t>Quality of Service "At Least Once" - guarantees message delivery</a:t>
                      </a:r>
                    </a:p>
                  </a:txBody>
                  <a:tcPr marL="23967" marR="23967" marT="23967" marB="23967">
                    <a:lnL w="5639" cap="flat" cmpd="sng" algn="ctr">
                      <a:solidFill>
                        <a:srgbClr val="905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639" cap="flat" cmpd="sng" algn="ctr">
                      <a:solidFill>
                        <a:srgbClr val="905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803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40068"/>
                  </a:ext>
                </a:extLst>
              </a:tr>
              <a:tr h="456989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700" b="1">
                          <a:effectLst/>
                          <a:latin typeface="inherit"/>
                        </a:rPr>
                        <a:t>Device Shadow</a:t>
                      </a:r>
                      <a:endParaRPr lang="en-IN" sz="1700">
                        <a:effectLst/>
                        <a:latin typeface="inherit"/>
                      </a:endParaRPr>
                    </a:p>
                  </a:txBody>
                  <a:tcPr marL="23967" marR="23967" marT="23967" marB="23967">
                    <a:lnL>
                      <a:noFill/>
                    </a:lnL>
                    <a:lnR w="5639" cap="flat" cmpd="sng" algn="ctr">
                      <a:solidFill>
                        <a:srgbClr val="803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B05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B05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US" sz="1700">
                          <a:effectLst/>
                          <a:latin typeface="inherit"/>
                        </a:rPr>
                        <a:t>AWS IoT Core's virtual copy of device state (last known values)</a:t>
                      </a:r>
                    </a:p>
                  </a:txBody>
                  <a:tcPr marL="23967" marR="23967" marT="23967" marB="23967">
                    <a:lnL w="5639" cap="flat" cmpd="sng" algn="ctr">
                      <a:solidFill>
                        <a:srgbClr val="803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639" cap="flat" cmpd="sng" algn="ctr">
                      <a:solidFill>
                        <a:srgbClr val="803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504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431362"/>
                  </a:ext>
                </a:extLst>
              </a:tr>
              <a:tr h="456989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700" b="1">
                          <a:effectLst/>
                          <a:latin typeface="inherit"/>
                        </a:rPr>
                        <a:t>Sliding Window</a:t>
                      </a:r>
                      <a:endParaRPr lang="en-IN" sz="1700">
                        <a:effectLst/>
                        <a:latin typeface="inherit"/>
                      </a:endParaRPr>
                    </a:p>
                  </a:txBody>
                  <a:tcPr marL="23967" marR="23967" marT="23967" marB="23967">
                    <a:lnL>
                      <a:noFill/>
                    </a:lnL>
                    <a:lnR w="5639" cap="flat" cmpd="sng" algn="ctr">
                      <a:solidFill>
                        <a:srgbClr val="504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B05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107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US" sz="1700">
                          <a:effectLst/>
                          <a:latin typeface="inherit"/>
                        </a:rPr>
                        <a:t>Fog node keeps last 3 readings (15 seconds) for averaging</a:t>
                      </a:r>
                    </a:p>
                  </a:txBody>
                  <a:tcPr marL="23967" marR="23967" marT="23967" marB="23967">
                    <a:lnL w="5639" cap="flat" cmpd="sng" algn="ctr">
                      <a:solidFill>
                        <a:srgbClr val="504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639" cap="flat" cmpd="sng" algn="ctr">
                      <a:solidFill>
                        <a:srgbClr val="504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1051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7810550"/>
                  </a:ext>
                </a:extLst>
              </a:tr>
              <a:tr h="456989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700" b="1">
                          <a:effectLst/>
                          <a:latin typeface="inherit"/>
                        </a:rPr>
                        <a:t>Bandwidth Optimization</a:t>
                      </a:r>
                      <a:endParaRPr lang="en-IN" sz="1700">
                        <a:effectLst/>
                        <a:latin typeface="inherit"/>
                      </a:endParaRPr>
                    </a:p>
                  </a:txBody>
                  <a:tcPr marL="23967" marR="23967" marT="23967" marB="23967">
                    <a:lnL>
                      <a:noFill/>
                    </a:lnL>
                    <a:lnR w="5639" cap="flat" cmpd="sng" algn="ctr">
                      <a:solidFill>
                        <a:srgbClr val="1051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107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A07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US" sz="1700">
                          <a:effectLst/>
                          <a:latin typeface="inherit"/>
                        </a:rPr>
                        <a:t>Only sending to cloud when score changes &gt;10% (84% cost reduction)</a:t>
                      </a:r>
                    </a:p>
                  </a:txBody>
                  <a:tcPr marL="23967" marR="23967" marT="23967" marB="23967">
                    <a:lnL w="5639" cap="flat" cmpd="sng" algn="ctr">
                      <a:solidFill>
                        <a:srgbClr val="1051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639" cap="flat" cmpd="sng" algn="ctr">
                      <a:solidFill>
                        <a:srgbClr val="1051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504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009704"/>
                  </a:ext>
                </a:extLst>
              </a:tr>
              <a:tr h="456989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700" b="1">
                          <a:effectLst/>
                          <a:latin typeface="inherit"/>
                        </a:rPr>
                        <a:t>FaaS</a:t>
                      </a:r>
                      <a:endParaRPr lang="en-IN" sz="1700">
                        <a:effectLst/>
                        <a:latin typeface="inherit"/>
                      </a:endParaRPr>
                    </a:p>
                  </a:txBody>
                  <a:tcPr marL="23967" marR="23967" marT="23967" marB="23967">
                    <a:lnL>
                      <a:noFill/>
                    </a:lnL>
                    <a:lnR w="5639" cap="flat" cmpd="sng" algn="ctr">
                      <a:solidFill>
                        <a:srgbClr val="504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A07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C07C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US" sz="1700">
                          <a:effectLst/>
                          <a:latin typeface="inherit"/>
                        </a:rPr>
                        <a:t>Function as a Service - Lambda (if you add it for alerts)</a:t>
                      </a:r>
                    </a:p>
                  </a:txBody>
                  <a:tcPr marL="23967" marR="23967" marT="23967" marB="23967">
                    <a:lnL w="5639" cap="flat" cmpd="sng" algn="ctr">
                      <a:solidFill>
                        <a:srgbClr val="504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639" cap="flat" cmpd="sng" algn="ctr">
                      <a:solidFill>
                        <a:srgbClr val="504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B04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633438"/>
                  </a:ext>
                </a:extLst>
              </a:tr>
              <a:tr h="456989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700" b="1">
                          <a:effectLst/>
                          <a:latin typeface="inherit"/>
                        </a:rPr>
                        <a:t>Time-Series DB</a:t>
                      </a:r>
                      <a:endParaRPr lang="en-IN" sz="1700">
                        <a:effectLst/>
                        <a:latin typeface="inherit"/>
                      </a:endParaRPr>
                    </a:p>
                  </a:txBody>
                  <a:tcPr marL="23967" marR="23967" marT="23967" marB="23967">
                    <a:lnL>
                      <a:noFill/>
                    </a:lnL>
                    <a:lnR w="5639" cap="flat" cmpd="sng" algn="ctr">
                      <a:solidFill>
                        <a:srgbClr val="C0A3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C07C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103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US" sz="1700">
                          <a:effectLst/>
                          <a:latin typeface="inherit"/>
                        </a:rPr>
                        <a:t>DynamoDB optimized for sequential sensor data (timestamp sort key)</a:t>
                      </a:r>
                    </a:p>
                  </a:txBody>
                  <a:tcPr marL="23967" marR="23967" marT="23967" marB="23967">
                    <a:lnL w="5639" cap="flat" cmpd="sng" algn="ctr">
                      <a:solidFill>
                        <a:srgbClr val="C0A3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639" cap="flat" cmpd="sng" algn="ctr">
                      <a:solidFill>
                        <a:srgbClr val="B04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60AD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068466"/>
                  </a:ext>
                </a:extLst>
              </a:tr>
              <a:tr h="456989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700" b="1">
                          <a:effectLst/>
                          <a:latin typeface="inherit"/>
                        </a:rPr>
                        <a:t>Auto-scaling</a:t>
                      </a:r>
                      <a:endParaRPr lang="en-IN" sz="1700">
                        <a:effectLst/>
                        <a:latin typeface="inherit"/>
                      </a:endParaRPr>
                    </a:p>
                  </a:txBody>
                  <a:tcPr marL="23967" marR="23967" marT="23967" marB="23967">
                    <a:lnL>
                      <a:noFill/>
                    </a:lnL>
                    <a:lnR w="5639" cap="flat" cmpd="sng" algn="ctr">
                      <a:solidFill>
                        <a:srgbClr val="60AD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103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103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US" sz="1700">
                          <a:effectLst/>
                          <a:latin typeface="inherit"/>
                        </a:rPr>
                        <a:t>DynamoDB PAY_PER_REQUEST scales capacity automatically</a:t>
                      </a:r>
                    </a:p>
                  </a:txBody>
                  <a:tcPr marL="23967" marR="23967" marT="23967" marB="23967">
                    <a:lnL w="5639" cap="flat" cmpd="sng" algn="ctr">
                      <a:solidFill>
                        <a:srgbClr val="60AD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639" cap="flat" cmpd="sng" algn="ctr">
                      <a:solidFill>
                        <a:srgbClr val="60AD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20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074891"/>
                  </a:ext>
                </a:extLst>
              </a:tr>
              <a:tr h="456989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700" b="1">
                          <a:effectLst/>
                          <a:latin typeface="inherit"/>
                        </a:rPr>
                        <a:t>Pub/Sub</a:t>
                      </a:r>
                      <a:endParaRPr lang="en-IN" sz="1700">
                        <a:effectLst/>
                        <a:latin typeface="inherit"/>
                      </a:endParaRPr>
                    </a:p>
                  </a:txBody>
                  <a:tcPr marL="23967" marR="23967" marT="23967" marB="23967">
                    <a:lnL>
                      <a:noFill/>
                    </a:lnL>
                    <a:lnR w="5639" cap="flat" cmpd="sng" algn="ctr">
                      <a:solidFill>
                        <a:srgbClr val="20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103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103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US" sz="1700">
                          <a:effectLst/>
                          <a:latin typeface="inherit"/>
                        </a:rPr>
                        <a:t>Publish/Subscribe - IoT Core pattern (topics: </a:t>
                      </a:r>
                      <a:r>
                        <a:rPr lang="en-US" sz="1700">
                          <a:effectLst/>
                          <a:latin typeface="Courier New" panose="02070309020205020404" pitchFamily="49" charset="0"/>
                        </a:rPr>
                        <a:t>sensors/+/raw</a:t>
                      </a:r>
                      <a:r>
                        <a:rPr lang="en-US" sz="1700">
                          <a:effectLst/>
                          <a:latin typeface="inherit"/>
                        </a:rPr>
                        <a:t>)</a:t>
                      </a:r>
                    </a:p>
                  </a:txBody>
                  <a:tcPr marL="23967" marR="23967" marT="23967" marB="23967">
                    <a:lnL w="5639" cap="flat" cmpd="sng" algn="ctr">
                      <a:solidFill>
                        <a:srgbClr val="20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639" cap="flat" cmpd="sng" algn="ctr">
                      <a:solidFill>
                        <a:srgbClr val="20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20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559012"/>
                  </a:ext>
                </a:extLst>
              </a:tr>
              <a:tr h="328578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500" b="1">
                          <a:effectLst/>
                          <a:latin typeface="inherit"/>
                        </a:rPr>
                        <a:t>CICD deployment</a:t>
                      </a:r>
                      <a:endParaRPr lang="en-IN" sz="1500">
                        <a:effectLst/>
                        <a:latin typeface="inherit"/>
                      </a:endParaRPr>
                    </a:p>
                  </a:txBody>
                  <a:tcPr marL="52945" marR="52945" marT="52945" marB="52945">
                    <a:lnL>
                      <a:noFill/>
                    </a:lnL>
                    <a:lnR w="5639" cap="flat" cmpd="sng" algn="ctr">
                      <a:solidFill>
                        <a:srgbClr val="20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103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103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500">
                          <a:effectLst/>
                          <a:latin typeface="inherit"/>
                        </a:rPr>
                        <a:t>GitHub Actions → Elastic Beanstalk</a:t>
                      </a:r>
                    </a:p>
                  </a:txBody>
                  <a:tcPr marL="52945" marR="52945" marT="52945" marB="52945">
                    <a:lnL w="5639" cap="flat" cmpd="sng" algn="ctr">
                      <a:solidFill>
                        <a:srgbClr val="20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639" cap="flat" cmpd="sng" algn="ctr">
                      <a:solidFill>
                        <a:srgbClr val="20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20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261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7691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40BF9-2EA9-E60A-5F8D-6008C7E61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609599"/>
            <a:ext cx="3413156" cy="5273675"/>
          </a:xfrm>
        </p:spPr>
        <p:txBody>
          <a:bodyPr>
            <a:normAutofit/>
          </a:bodyPr>
          <a:lstStyle/>
          <a:p>
            <a:r>
              <a:rPr lang="en-IN" sz="2800" b="1">
                <a:effectLst/>
              </a:rPr>
              <a:t>⚡ NON-FUNCTIONAL REQUIREMENTS</a:t>
            </a:r>
            <a:br>
              <a:rPr lang="en-IN" sz="2800" b="1">
                <a:effectLst/>
              </a:rPr>
            </a:br>
            <a:endParaRPr lang="en-IN" sz="28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77D423-FE81-4236-89DE-39776B810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641" y="609599"/>
            <a:ext cx="6889687" cy="5273675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54508E-83A0-2CD7-2CFF-7E3EFE16BA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3364781"/>
              </p:ext>
            </p:extLst>
          </p:nvPr>
        </p:nvGraphicFramePr>
        <p:xfrm>
          <a:off x="4976423" y="704392"/>
          <a:ext cx="6469528" cy="5273678"/>
        </p:xfrm>
        <a:graphic>
          <a:graphicData uri="http://schemas.openxmlformats.org/drawingml/2006/table">
            <a:tbl>
              <a:tblPr/>
              <a:tblGrid>
                <a:gridCol w="122412">
                  <a:extLst>
                    <a:ext uri="{9D8B030D-6E8A-4147-A177-3AD203B41FA5}">
                      <a16:colId xmlns:a16="http://schemas.microsoft.com/office/drawing/2014/main" val="1244255947"/>
                    </a:ext>
                  </a:extLst>
                </a:gridCol>
                <a:gridCol w="1810004">
                  <a:extLst>
                    <a:ext uri="{9D8B030D-6E8A-4147-A177-3AD203B41FA5}">
                      <a16:colId xmlns:a16="http://schemas.microsoft.com/office/drawing/2014/main" val="842911694"/>
                    </a:ext>
                  </a:extLst>
                </a:gridCol>
                <a:gridCol w="2066304">
                  <a:extLst>
                    <a:ext uri="{9D8B030D-6E8A-4147-A177-3AD203B41FA5}">
                      <a16:colId xmlns:a16="http://schemas.microsoft.com/office/drawing/2014/main" val="2205029475"/>
                    </a:ext>
                  </a:extLst>
                </a:gridCol>
                <a:gridCol w="2470808">
                  <a:extLst>
                    <a:ext uri="{9D8B030D-6E8A-4147-A177-3AD203B41FA5}">
                      <a16:colId xmlns:a16="http://schemas.microsoft.com/office/drawing/2014/main" val="830086647"/>
                    </a:ext>
                  </a:extLst>
                </a:gridCol>
              </a:tblGrid>
              <a:tr h="385148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endParaRPr lang="en-IN" sz="1300" b="1">
                        <a:effectLst/>
                        <a:latin typeface="inherit"/>
                      </a:endParaRPr>
                    </a:p>
                  </a:txBody>
                  <a:tcPr marL="46990" marR="46990" marT="46990" marB="46990">
                    <a:lnL>
                      <a:noFill/>
                    </a:lnL>
                    <a:lnR w="5639" cap="flat" cmpd="sng" algn="ctr">
                      <a:solidFill>
                        <a:srgbClr val="B0D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4071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C0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 b="1">
                          <a:effectLst/>
                          <a:latin typeface="inherit"/>
                        </a:rPr>
                        <a:t>Requirement</a:t>
                      </a: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B0D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639" cap="flat" cmpd="sng" algn="ctr">
                      <a:solidFill>
                        <a:srgbClr val="C0B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B0D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B0BB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 b="1">
                          <a:effectLst/>
                          <a:latin typeface="inherit"/>
                        </a:rPr>
                        <a:t>Target</a:t>
                      </a: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C0B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639" cap="flat" cmpd="sng" algn="ctr">
                      <a:solidFill>
                        <a:srgbClr val="00BB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C0B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A0CF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 b="1">
                          <a:effectLst/>
                          <a:latin typeface="inherit"/>
                        </a:rPr>
                        <a:t>How You Achieved It</a:t>
                      </a: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00BB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639" cap="flat" cmpd="sng" algn="ctr">
                      <a:solidFill>
                        <a:srgbClr val="00BB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E0B6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687568"/>
                  </a:ext>
                </a:extLst>
              </a:tr>
              <a:tr h="385148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endParaRPr lang="en-IN" sz="1300">
                        <a:effectLst/>
                        <a:latin typeface="inherit"/>
                      </a:endParaRPr>
                    </a:p>
                  </a:txBody>
                  <a:tcPr marL="46990" marR="46990" marT="46990" marB="46990">
                    <a:lnL>
                      <a:noFill/>
                    </a:lnL>
                    <a:lnR w="5639" cap="flat" cmpd="sng" algn="ctr">
                      <a:solidFill>
                        <a:srgbClr val="B0BB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C0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E07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 b="1">
                          <a:effectLst/>
                          <a:latin typeface="inherit"/>
                        </a:rPr>
                        <a:t>Latency</a:t>
                      </a:r>
                      <a:endParaRPr lang="en-IN" sz="1300">
                        <a:effectLst/>
                        <a:latin typeface="inherit"/>
                      </a:endParaRP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B0BB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639" cap="flat" cmpd="sng" algn="ctr">
                      <a:solidFill>
                        <a:srgbClr val="A0CF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B0BB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E0B6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>
                          <a:effectLst/>
                          <a:latin typeface="inherit"/>
                        </a:rPr>
                        <a:t>&lt;100ms edge processing</a:t>
                      </a: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A0CF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639" cap="flat" cmpd="sng" algn="ctr">
                      <a:solidFill>
                        <a:srgbClr val="E0B6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A0CF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C0B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>
                          <a:effectLst/>
                          <a:latin typeface="inherit"/>
                        </a:rPr>
                        <a:t>Fog node local calculation</a:t>
                      </a: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E0B6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639" cap="flat" cmpd="sng" algn="ctr">
                      <a:solidFill>
                        <a:srgbClr val="E0B6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A0CF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306909"/>
                  </a:ext>
                </a:extLst>
              </a:tr>
              <a:tr h="622181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endParaRPr lang="en-IN" sz="1300">
                        <a:effectLst/>
                        <a:latin typeface="inherit"/>
                      </a:endParaRPr>
                    </a:p>
                  </a:txBody>
                  <a:tcPr marL="46990" marR="46990" marT="46990" marB="46990">
                    <a:lnL>
                      <a:noFill/>
                    </a:lnL>
                    <a:lnR w="5639" cap="flat" cmpd="sng" algn="ctr">
                      <a:solidFill>
                        <a:srgbClr val="E0B6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E07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607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 b="1">
                          <a:effectLst/>
                          <a:latin typeface="inherit"/>
                        </a:rPr>
                        <a:t>Availability</a:t>
                      </a:r>
                      <a:endParaRPr lang="en-IN" sz="1300">
                        <a:effectLst/>
                        <a:latin typeface="inherit"/>
                      </a:endParaRP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E0B6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639" cap="flat" cmpd="sng" algn="ctr">
                      <a:solidFill>
                        <a:srgbClr val="C0B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E0B6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70BE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>
                          <a:effectLst/>
                          <a:latin typeface="inherit"/>
                        </a:rPr>
                        <a:t>99.9%</a:t>
                      </a: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C0B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639" cap="flat" cmpd="sng" algn="ctr">
                      <a:solidFill>
                        <a:srgbClr val="A0CF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C0B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C0B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>
                          <a:effectLst/>
                          <a:latin typeface="inherit"/>
                        </a:rPr>
                        <a:t>AWS SLA for IoT Core + DynamoDB</a:t>
                      </a: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A0CF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639" cap="flat" cmpd="sng" algn="ctr">
                      <a:solidFill>
                        <a:srgbClr val="A0CF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A0CF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99211"/>
                  </a:ext>
                </a:extLst>
              </a:tr>
              <a:tr h="622181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endParaRPr lang="en-IN" sz="1300">
                        <a:effectLst/>
                        <a:latin typeface="inherit"/>
                      </a:endParaRPr>
                    </a:p>
                  </a:txBody>
                  <a:tcPr marL="46990" marR="46990" marT="46990" marB="46990">
                    <a:lnL>
                      <a:noFill/>
                    </a:lnL>
                    <a:lnR w="5639" cap="flat" cmpd="sng" algn="ctr">
                      <a:solidFill>
                        <a:srgbClr val="70BE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607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C07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 b="1">
                          <a:effectLst/>
                          <a:latin typeface="inherit"/>
                        </a:rPr>
                        <a:t>Scalability</a:t>
                      </a:r>
                      <a:endParaRPr lang="en-IN" sz="1300">
                        <a:effectLst/>
                        <a:latin typeface="inherit"/>
                      </a:endParaRP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70BE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639" cap="flat" cmpd="sng" algn="ctr">
                      <a:solidFill>
                        <a:srgbClr val="C0B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70BE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A0CF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>
                          <a:effectLst/>
                          <a:latin typeface="inherit"/>
                        </a:rPr>
                        <a:t>1000+ parks</a:t>
                      </a: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C0B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639" cap="flat" cmpd="sng" algn="ctr">
                      <a:solidFill>
                        <a:srgbClr val="A0CF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C0B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E0B6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 dirty="0">
                          <a:effectLst/>
                          <a:latin typeface="inherit"/>
                        </a:rPr>
                        <a:t>DynamoDB PAY_PER_REQUEST auto-scales</a:t>
                      </a: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A0CF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639" cap="flat" cmpd="sng" algn="ctr">
                      <a:solidFill>
                        <a:srgbClr val="A0CF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E0B6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292751"/>
                  </a:ext>
                </a:extLst>
              </a:tr>
              <a:tr h="622181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endParaRPr lang="en-IN" sz="1300">
                        <a:effectLst/>
                        <a:latin typeface="inherit"/>
                      </a:endParaRPr>
                    </a:p>
                  </a:txBody>
                  <a:tcPr marL="46990" marR="46990" marT="46990" marB="46990">
                    <a:lnL>
                      <a:noFill/>
                    </a:lnL>
                    <a:lnR w="5639" cap="flat" cmpd="sng" algn="ctr">
                      <a:solidFill>
                        <a:srgbClr val="A0CF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C07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1099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 b="1">
                          <a:effectLst/>
                          <a:latin typeface="inherit"/>
                        </a:rPr>
                        <a:t>Cost efficiency</a:t>
                      </a:r>
                      <a:endParaRPr lang="en-IN" sz="1300">
                        <a:effectLst/>
                        <a:latin typeface="inherit"/>
                      </a:endParaRP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A0CF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639" cap="flat" cmpd="sng" algn="ctr">
                      <a:solidFill>
                        <a:srgbClr val="E0B6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A0CF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A0CF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>
                          <a:effectLst/>
                          <a:latin typeface="inherit"/>
                        </a:rPr>
                        <a:t>84% cloud cost reduction</a:t>
                      </a: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E0B6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639" cap="flat" cmpd="sng" algn="ctr">
                      <a:solidFill>
                        <a:srgbClr val="E0B6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E0B6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70BE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>
                          <a:effectLst/>
                          <a:latin typeface="inherit"/>
                        </a:rPr>
                        <a:t>Bandwidth optimization (500K vs 31M messages)</a:t>
                      </a: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E0B6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639" cap="flat" cmpd="sng" algn="ctr">
                      <a:solidFill>
                        <a:srgbClr val="E0B6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C0B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41672"/>
                  </a:ext>
                </a:extLst>
              </a:tr>
              <a:tr h="622181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endParaRPr lang="en-IN" sz="1300">
                        <a:effectLst/>
                        <a:latin typeface="inherit"/>
                      </a:endParaRPr>
                    </a:p>
                  </a:txBody>
                  <a:tcPr marL="46990" marR="46990" marT="46990" marB="46990">
                    <a:lnL>
                      <a:noFill/>
                    </a:lnL>
                    <a:lnR w="5639" cap="flat" cmpd="sng" algn="ctr">
                      <a:solidFill>
                        <a:srgbClr val="A0CF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1099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8092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 b="1" dirty="0">
                          <a:effectLst/>
                          <a:latin typeface="inherit"/>
                        </a:rPr>
                        <a:t>Security</a:t>
                      </a:r>
                      <a:endParaRPr lang="en-IN" sz="1300" dirty="0">
                        <a:effectLst/>
                        <a:latin typeface="inherit"/>
                      </a:endParaRP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A0CF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639" cap="flat" cmpd="sng" algn="ctr">
                      <a:solidFill>
                        <a:srgbClr val="70BE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A0CF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C0B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>
                          <a:effectLst/>
                          <a:latin typeface="inherit"/>
                        </a:rPr>
                        <a:t>mTLS 1.3, X.509</a:t>
                      </a: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70BE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639" cap="flat" cmpd="sng" algn="ctr">
                      <a:solidFill>
                        <a:srgbClr val="C0B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70BE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40F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>
                          <a:effectLst/>
                          <a:latin typeface="inherit"/>
                        </a:rPr>
                        <a:t>Certificate-based MQTT authentication</a:t>
                      </a: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C0B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639" cap="flat" cmpd="sng" algn="ctr">
                      <a:solidFill>
                        <a:srgbClr val="C0B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70DF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8521150"/>
                  </a:ext>
                </a:extLst>
              </a:tr>
              <a:tr h="622181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endParaRPr lang="en-IN" sz="1300">
                        <a:effectLst/>
                        <a:latin typeface="inherit"/>
                      </a:endParaRPr>
                    </a:p>
                  </a:txBody>
                  <a:tcPr marL="46990" marR="46990" marT="46990" marB="46990">
                    <a:lnL>
                      <a:noFill/>
                    </a:lnL>
                    <a:lnR w="5639" cap="flat" cmpd="sng" algn="ctr">
                      <a:solidFill>
                        <a:srgbClr val="C0B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8092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9056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 b="1">
                          <a:effectLst/>
                          <a:latin typeface="inherit"/>
                        </a:rPr>
                        <a:t>Maintainability</a:t>
                      </a:r>
                      <a:endParaRPr lang="en-IN" sz="1300">
                        <a:effectLst/>
                        <a:latin typeface="inherit"/>
                      </a:endParaRP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C0B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639" cap="flat" cmpd="sng" algn="ctr">
                      <a:solidFill>
                        <a:srgbClr val="40F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C0B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5007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>
                          <a:effectLst/>
                          <a:latin typeface="inherit"/>
                        </a:rPr>
                        <a:t>Modular code</a:t>
                      </a: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40F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639" cap="flat" cmpd="sng" algn="ctr">
                      <a:solidFill>
                        <a:srgbClr val="70DF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40F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6009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US" sz="1300">
                          <a:effectLst/>
                          <a:latin typeface="inherit"/>
                        </a:rPr>
                        <a:t>Separate sensor functions, clear comments</a:t>
                      </a: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70DF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639" cap="flat" cmpd="sng" algn="ctr">
                      <a:solidFill>
                        <a:srgbClr val="70DF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80E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781859"/>
                  </a:ext>
                </a:extLst>
              </a:tr>
              <a:tr h="385148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endParaRPr lang="en-IN" sz="1300">
                        <a:effectLst/>
                        <a:latin typeface="inherit"/>
                      </a:endParaRPr>
                    </a:p>
                  </a:txBody>
                  <a:tcPr marL="46990" marR="46990" marT="46990" marB="46990">
                    <a:lnL>
                      <a:noFill/>
                    </a:lnL>
                    <a:lnR w="5639" cap="flat" cmpd="sng" algn="ctr">
                      <a:solidFill>
                        <a:srgbClr val="5007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9056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008F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 b="1">
                          <a:effectLst/>
                          <a:latin typeface="inherit"/>
                        </a:rPr>
                        <a:t>Reliability</a:t>
                      </a:r>
                      <a:endParaRPr lang="en-IN" sz="1300">
                        <a:effectLst/>
                        <a:latin typeface="inherit"/>
                      </a:endParaRP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5007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639" cap="flat" cmpd="sng" algn="ctr">
                      <a:solidFill>
                        <a:srgbClr val="6009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5007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60F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>
                          <a:effectLst/>
                          <a:latin typeface="inherit"/>
                        </a:rPr>
                        <a:t>At-least-once delivery</a:t>
                      </a: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6009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639" cap="flat" cmpd="sng" algn="ctr">
                      <a:solidFill>
                        <a:srgbClr val="80E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6009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60F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US" sz="1300">
                          <a:effectLst/>
                          <a:latin typeface="inherit"/>
                        </a:rPr>
                        <a:t>MQTT QoS 1 (AT_LEAST_ONCE)</a:t>
                      </a: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80E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639" cap="flat" cmpd="sng" algn="ctr">
                      <a:solidFill>
                        <a:srgbClr val="80E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E0E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856482"/>
                  </a:ext>
                </a:extLst>
              </a:tr>
              <a:tr h="622181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endParaRPr lang="en-IN" sz="1300">
                        <a:effectLst/>
                        <a:latin typeface="inherit"/>
                      </a:endParaRPr>
                    </a:p>
                  </a:txBody>
                  <a:tcPr marL="46990" marR="46990" marT="46990" marB="46990">
                    <a:lnL>
                      <a:noFill/>
                    </a:lnL>
                    <a:lnR w="5639" cap="flat" cmpd="sng" algn="ctr">
                      <a:solidFill>
                        <a:srgbClr val="60F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008F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F08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 b="1" dirty="0">
                          <a:effectLst/>
                          <a:latin typeface="inherit"/>
                        </a:rPr>
                        <a:t>Decoupling</a:t>
                      </a:r>
                      <a:endParaRPr lang="en-IN" sz="1300" dirty="0">
                        <a:effectLst/>
                        <a:latin typeface="inherit"/>
                      </a:endParaRP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60F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639" cap="flat" cmpd="sng" algn="ctr">
                      <a:solidFill>
                        <a:srgbClr val="60F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60F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10DE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>
                          <a:effectLst/>
                          <a:latin typeface="inherit"/>
                        </a:rPr>
                        <a:t>Async message processing</a:t>
                      </a: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60F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639" cap="flat" cmpd="sng" algn="ctr">
                      <a:solidFill>
                        <a:srgbClr val="E0E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60F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40F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 b="1">
                          <a:effectLst/>
                          <a:latin typeface="inherit"/>
                        </a:rPr>
                        <a:t>SQS queue between components</a:t>
                      </a:r>
                      <a:endParaRPr lang="en-IN" sz="1300">
                        <a:effectLst/>
                        <a:latin typeface="inherit"/>
                      </a:endParaRP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E0E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639" cap="flat" cmpd="sng" algn="ctr">
                      <a:solidFill>
                        <a:srgbClr val="E0E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A0E5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646629"/>
                  </a:ext>
                </a:extLst>
              </a:tr>
              <a:tr h="385148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endParaRPr lang="en-IN" sz="1300">
                        <a:effectLst/>
                        <a:latin typeface="inherit"/>
                      </a:endParaRPr>
                    </a:p>
                  </a:txBody>
                  <a:tcPr marL="46990" marR="46990" marT="46990" marB="46990">
                    <a:lnL>
                      <a:noFill/>
                    </a:lnL>
                    <a:lnR w="5639" cap="flat" cmpd="sng" algn="ctr">
                      <a:solidFill>
                        <a:srgbClr val="10DE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F08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 b="1" dirty="0">
                          <a:effectLst/>
                          <a:latin typeface="inherit"/>
                        </a:rPr>
                        <a:t>Fault tolerance</a:t>
                      </a:r>
                      <a:endParaRPr lang="en-IN" sz="1300" dirty="0">
                        <a:effectLst/>
                        <a:latin typeface="inherit"/>
                      </a:endParaRP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10DE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639" cap="flat" cmpd="sng" algn="ctr">
                      <a:solidFill>
                        <a:srgbClr val="40F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10DE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>
                          <a:effectLst/>
                          <a:latin typeface="inherit"/>
                        </a:rPr>
                        <a:t>Retry on failure</a:t>
                      </a: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40F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639" cap="flat" cmpd="sng" algn="ctr">
                      <a:solidFill>
                        <a:srgbClr val="A0E5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639" cap="flat" cmpd="sng" algn="ctr">
                      <a:solidFill>
                        <a:srgbClr val="40F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IN" sz="1300" dirty="0">
                          <a:effectLst/>
                          <a:latin typeface="inherit"/>
                        </a:rPr>
                        <a:t>DynamoDB + SQS built-in retries</a:t>
                      </a:r>
                    </a:p>
                  </a:txBody>
                  <a:tcPr marL="46990" marR="46990" marT="46990" marB="46990">
                    <a:lnL w="5639" cap="flat" cmpd="sng" algn="ctr">
                      <a:solidFill>
                        <a:srgbClr val="A0E5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639" cap="flat" cmpd="sng" algn="ctr">
                      <a:solidFill>
                        <a:srgbClr val="A0E5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422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8336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9276B20-9786-561B-75C4-3259CA8DEBDF}"/>
              </a:ext>
            </a:extLst>
          </p:cNvPr>
          <p:cNvSpPr txBox="1"/>
          <p:nvPr/>
        </p:nvSpPr>
        <p:spPr>
          <a:xfrm>
            <a:off x="5146160" y="609600"/>
            <a:ext cx="5978072" cy="97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Sensors</a:t>
            </a:r>
          </a:p>
        </p:txBody>
      </p:sp>
      <p:pic>
        <p:nvPicPr>
          <p:cNvPr id="8" name="Picture 7" descr="Multi-color batteries">
            <a:extLst>
              <a:ext uri="{FF2B5EF4-FFF2-40B4-BE49-F238E27FC236}">
                <a16:creationId xmlns:a16="http://schemas.microsoft.com/office/drawing/2014/main" id="{22F9F2D9-76C2-AEE6-D863-D659F2A935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834" r="20668" b="-2"/>
          <a:stretch>
            <a:fillRect/>
          </a:stretch>
        </p:blipFill>
        <p:spPr>
          <a:xfrm>
            <a:off x="-10649" y="1"/>
            <a:ext cx="4571649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B3B17F-8AEC-F1D0-A9F3-E3911A76B1C6}"/>
              </a:ext>
            </a:extLst>
          </p:cNvPr>
          <p:cNvSpPr txBox="1"/>
          <p:nvPr/>
        </p:nvSpPr>
        <p:spPr>
          <a:xfrm>
            <a:off x="5146160" y="1828801"/>
            <a:ext cx="5978072" cy="3866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>
              <a:spcBef>
                <a:spcPct val="20000"/>
              </a:spcBef>
              <a:spcAft>
                <a:spcPts val="600"/>
              </a:spcAft>
              <a:buClr>
                <a:srgbClr val="559AE6"/>
              </a:buClr>
              <a:buSzPct val="70000"/>
              <a:buFont typeface="Wingdings 2" charset="2"/>
              <a:buNone/>
            </a:pPr>
            <a:r>
              <a:rPr lang="en-US" b="1" i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From </a:t>
            </a:r>
            <a:r>
              <a:rPr lang="en-US" b="1" i="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OpenWeatherMap</a:t>
            </a:r>
            <a:r>
              <a:rPr lang="en-US" b="1" i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API (Real):</a:t>
            </a:r>
            <a:endParaRPr lang="en-US" b="0" i="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fontAlgn="base">
              <a:spcBef>
                <a:spcPct val="20000"/>
              </a:spcBef>
              <a:spcAft>
                <a:spcPts val="600"/>
              </a:spcAft>
              <a:buClr>
                <a:srgbClr val="559AE6"/>
              </a:buClr>
              <a:buSzPct val="70000"/>
              <a:buFont typeface="Wingdings 2" charset="2"/>
              <a:buChar char="•"/>
            </a:pPr>
            <a:r>
              <a:rPr lang="en-US" b="0" i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Temperature (°C) </a:t>
            </a:r>
            <a:r>
              <a:rPr lang="en-IN" b="1" dirty="0">
                <a:latin typeface="inherit"/>
              </a:rPr>
              <a:t>DHT22</a:t>
            </a:r>
            <a:endParaRPr lang="en-US" b="0" i="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fontAlgn="base">
              <a:spcBef>
                <a:spcPct val="20000"/>
              </a:spcBef>
              <a:spcAft>
                <a:spcPts val="600"/>
              </a:spcAft>
              <a:buClr>
                <a:srgbClr val="559AE6"/>
              </a:buClr>
              <a:buSzPct val="70000"/>
              <a:buFont typeface="Wingdings 2" charset="2"/>
              <a:buChar char="•"/>
            </a:pPr>
            <a:r>
              <a:rPr lang="en-US" b="0" i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Humidity (%) </a:t>
            </a:r>
            <a:r>
              <a:rPr lang="en-IN" b="1" dirty="0">
                <a:latin typeface="inherit"/>
              </a:rPr>
              <a:t>DHT22</a:t>
            </a:r>
            <a:endParaRPr lang="en-US" b="0" i="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fontAlgn="base">
              <a:spcBef>
                <a:spcPct val="20000"/>
              </a:spcBef>
              <a:spcAft>
                <a:spcPts val="600"/>
              </a:spcAft>
              <a:buClr>
                <a:srgbClr val="559AE6"/>
              </a:buClr>
              <a:buSzPct val="70000"/>
              <a:buFont typeface="Wingdings 2" charset="2"/>
              <a:buChar char="•"/>
            </a:pPr>
            <a:r>
              <a:rPr lang="en-US" b="0" i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UV Index </a:t>
            </a:r>
            <a:r>
              <a:rPr lang="en-IN" b="1" dirty="0">
                <a:latin typeface="inherit"/>
              </a:rPr>
              <a:t>SI1145</a:t>
            </a:r>
            <a:endParaRPr lang="en-US" b="0" i="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fontAlgn="base">
              <a:spcBef>
                <a:spcPct val="20000"/>
              </a:spcBef>
              <a:spcAft>
                <a:spcPts val="600"/>
              </a:spcAft>
              <a:buClr>
                <a:srgbClr val="559AE6"/>
              </a:buClr>
              <a:buSzPct val="70000"/>
              <a:buFont typeface="Wingdings 2" charset="2"/>
              <a:buChar char="•"/>
            </a:pPr>
            <a:r>
              <a:rPr lang="en-US" b="0" i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Wind Speed (m/s)</a:t>
            </a:r>
          </a:p>
          <a:p>
            <a:pPr fontAlgn="base">
              <a:spcBef>
                <a:spcPct val="20000"/>
              </a:spcBef>
              <a:spcAft>
                <a:spcPts val="600"/>
              </a:spcAft>
              <a:buClr>
                <a:srgbClr val="559AE6"/>
              </a:buClr>
              <a:buSzPct val="70000"/>
              <a:buFont typeface="Wingdings 2" charset="2"/>
              <a:buNone/>
            </a:pPr>
            <a:r>
              <a:rPr lang="en-US" b="1" i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Simulated Manually:</a:t>
            </a:r>
            <a:endParaRPr lang="en-US" b="0" i="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fontAlgn="base">
              <a:spcBef>
                <a:spcPct val="20000"/>
              </a:spcBef>
              <a:spcAft>
                <a:spcPts val="600"/>
              </a:spcAft>
              <a:buClr>
                <a:srgbClr val="559AE6"/>
              </a:buClr>
              <a:buSzPct val="70000"/>
              <a:buFont typeface="Wingdings 2" charset="2"/>
              <a:buChar char="•"/>
            </a:pPr>
            <a:r>
              <a:rPr lang="en-US" b="0" i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Soil Moisture % (capacitive sensor simulation)</a:t>
            </a:r>
          </a:p>
          <a:p>
            <a:pPr fontAlgn="base">
              <a:spcBef>
                <a:spcPct val="20000"/>
              </a:spcBef>
              <a:spcAft>
                <a:spcPts val="600"/>
              </a:spcAft>
              <a:buClr>
                <a:srgbClr val="559AE6"/>
              </a:buClr>
              <a:buSzPct val="70000"/>
              <a:buFont typeface="Wingdings 2" charset="2"/>
              <a:buChar char="•"/>
            </a:pPr>
            <a:r>
              <a:rPr lang="en-US" b="0" i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PM2.5 Air Quality (would need separate air quality API)</a:t>
            </a:r>
          </a:p>
          <a:p>
            <a:pPr fontAlgn="base">
              <a:spcBef>
                <a:spcPct val="20000"/>
              </a:spcBef>
              <a:spcAft>
                <a:spcPts val="600"/>
              </a:spcAft>
              <a:buClr>
                <a:srgbClr val="559AE6"/>
              </a:buClr>
              <a:buSzPct val="70000"/>
              <a:buFont typeface="Wingdings 2" charset="2"/>
              <a:buChar char="•"/>
            </a:pPr>
            <a:r>
              <a:rPr lang="en-US" b="0" i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Battery level &amp; signal strength (device metadata)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59DF61F-9058-49C9-8F75-DC501F983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-10649" y="1"/>
            <a:ext cx="46905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878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8B4C2-E96C-BBE5-0400-D79A95236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6356"/>
            <a:ext cx="10353762" cy="970450"/>
          </a:xfrm>
        </p:spPr>
        <p:txBody>
          <a:bodyPr>
            <a:normAutofit fontScale="90000"/>
          </a:bodyPr>
          <a:lstStyle/>
          <a:p>
            <a:r>
              <a:rPr lang="en-IN" dirty="0">
                <a:effectLst/>
              </a:rPr>
              <a:t>SMARTPARK: BLUR &amp; SCALE PRINCIPLES</a:t>
            </a:r>
            <a:br>
              <a:rPr lang="en-IN" dirty="0">
                <a:effectLst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5D5CD1-535C-603A-6631-27F2BC1CCD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9124" y="1116806"/>
            <a:ext cx="7697390" cy="513159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1768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46201-F99F-43AF-403A-385348114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788833" y="261257"/>
            <a:ext cx="10353762" cy="970450"/>
          </a:xfrm>
        </p:spPr>
        <p:txBody>
          <a:bodyPr/>
          <a:lstStyle/>
          <a:p>
            <a:r>
              <a:rPr lang="en-US" dirty="0"/>
              <a:t>HLD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F22E76-F67F-8379-06C0-57E8031AA6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3314" y="14133"/>
            <a:ext cx="9078686" cy="685724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15655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1A3D2-4B6E-D2F2-7729-CAC3A41A3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900" y="4208220"/>
            <a:ext cx="3946393" cy="1850651"/>
          </a:xfrm>
        </p:spPr>
        <p:txBody>
          <a:bodyPr>
            <a:normAutofit/>
          </a:bodyPr>
          <a:lstStyle/>
          <a:p>
            <a:pPr algn="l"/>
            <a:r>
              <a:rPr lang="en-US" sz="3600"/>
              <a:t>Business Logic And Future Applications</a:t>
            </a:r>
            <a:endParaRPr lang="en-IN" sz="360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3709ADF-850E-5E81-1C7C-3DAB3D6D8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8" y="1001508"/>
            <a:ext cx="10926860" cy="23219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1DCFFF-18C6-857F-2C5D-32C3DB784F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9640" y="4208220"/>
            <a:ext cx="2233132" cy="223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5011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5721</TotalTime>
  <Words>328</Words>
  <Application>Microsoft Office PowerPoint</Application>
  <PresentationFormat>Widescreen</PresentationFormat>
  <Paragraphs>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Calisto MT</vt:lpstr>
      <vt:lpstr>Courier New</vt:lpstr>
      <vt:lpstr>inherit</vt:lpstr>
      <vt:lpstr>Wingdings 2</vt:lpstr>
      <vt:lpstr>Slate</vt:lpstr>
      <vt:lpstr>Fog And Edge:  SmartPark </vt:lpstr>
      <vt:lpstr>✅ FUNCTIONAL REQUIREMENTS </vt:lpstr>
      <vt:lpstr>⚡ NON-FUNCTIONAL REQUIREMENTS </vt:lpstr>
      <vt:lpstr>PowerPoint Presentation</vt:lpstr>
      <vt:lpstr>SMARTPARK: BLUR &amp; SCALE PRINCIPLES </vt:lpstr>
      <vt:lpstr>HLD</vt:lpstr>
      <vt:lpstr>Business Logic And Future 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Jeevanjot Singh .</dc:creator>
  <cp:lastModifiedBy>Jeevanjot Singh .</cp:lastModifiedBy>
  <cp:revision>2</cp:revision>
  <dcterms:created xsi:type="dcterms:W3CDTF">2026-04-13T03:54:44Z</dcterms:created>
  <dcterms:modified xsi:type="dcterms:W3CDTF">2026-04-17T03:16:24Z</dcterms:modified>
</cp:coreProperties>
</file>