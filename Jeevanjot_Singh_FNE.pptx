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0" r:id="rId3"/>
    <p:sldId id="261" r:id="rId4"/>
    <p:sldId id="262" r:id="rId5"/>
    <p:sldId id="257" r:id="rId6"/>
    <p:sldId id="263" r:id="rId7"/>
    <p:sldId id="265" r:id="rId8"/>
    <p:sldId id="264"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14" autoAdjust="0"/>
    <p:restoredTop sz="94660"/>
  </p:normalViewPr>
  <p:slideViewPr>
    <p:cSldViewPr snapToGrid="0">
      <p:cViewPr varScale="1">
        <p:scale>
          <a:sx n="62" d="100"/>
          <a:sy n="62" d="100"/>
        </p:scale>
        <p:origin x="828" y="2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0E854E2-7D82-48EE-BE4C-4FD18C32D243}" type="datetimeFigureOut">
              <a:rPr lang="en-IN" smtClean="0"/>
              <a:t>13-04-2026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7E3C55D7-CEBD-4B20-8812-895353458564}" type="slidenum">
              <a:rPr lang="en-IN" smtClean="0"/>
              <a:t>‹#›</a:t>
            </a:fld>
            <a:endParaRPr lang="en-IN"/>
          </a:p>
        </p:txBody>
      </p:sp>
    </p:spTree>
    <p:extLst>
      <p:ext uri="{BB962C8B-B14F-4D97-AF65-F5344CB8AC3E}">
        <p14:creationId xmlns:p14="http://schemas.microsoft.com/office/powerpoint/2010/main" val="18217277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0E854E2-7D82-48EE-BE4C-4FD18C32D243}" type="datetimeFigureOut">
              <a:rPr lang="en-IN" smtClean="0"/>
              <a:t>13-04-2026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7E3C55D7-CEBD-4B20-8812-895353458564}" type="slidenum">
              <a:rPr lang="en-IN" smtClean="0"/>
              <a:t>‹#›</a:t>
            </a:fld>
            <a:endParaRPr lang="en-IN"/>
          </a:p>
        </p:txBody>
      </p:sp>
    </p:spTree>
    <p:extLst>
      <p:ext uri="{BB962C8B-B14F-4D97-AF65-F5344CB8AC3E}">
        <p14:creationId xmlns:p14="http://schemas.microsoft.com/office/powerpoint/2010/main" val="35548193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0E854E2-7D82-48EE-BE4C-4FD18C32D243}" type="datetimeFigureOut">
              <a:rPr lang="en-IN" smtClean="0"/>
              <a:t>13-04-2026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7E3C55D7-CEBD-4B20-8812-895353458564}" type="slidenum">
              <a:rPr lang="en-IN" smtClean="0"/>
              <a:t>‹#›</a:t>
            </a:fld>
            <a:endParaRPr lang="en-IN"/>
          </a:p>
        </p:txBody>
      </p:sp>
    </p:spTree>
    <p:extLst>
      <p:ext uri="{BB962C8B-B14F-4D97-AF65-F5344CB8AC3E}">
        <p14:creationId xmlns:p14="http://schemas.microsoft.com/office/powerpoint/2010/main" val="30556431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0E854E2-7D82-48EE-BE4C-4FD18C32D243}" type="datetimeFigureOut">
              <a:rPr lang="en-IN" smtClean="0"/>
              <a:t>13-04-2026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7E3C55D7-CEBD-4B20-8812-895353458564}" type="slidenum">
              <a:rPr lang="en-IN" smtClean="0"/>
              <a:t>‹#›</a:t>
            </a:fld>
            <a:endParaRPr lang="en-IN"/>
          </a:p>
        </p:txBody>
      </p:sp>
    </p:spTree>
    <p:extLst>
      <p:ext uri="{BB962C8B-B14F-4D97-AF65-F5344CB8AC3E}">
        <p14:creationId xmlns:p14="http://schemas.microsoft.com/office/powerpoint/2010/main" val="31706402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0E854E2-7D82-48EE-BE4C-4FD18C32D243}" type="datetimeFigureOut">
              <a:rPr lang="en-IN" smtClean="0"/>
              <a:t>13-04-2026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7E3C55D7-CEBD-4B20-8812-895353458564}" type="slidenum">
              <a:rPr lang="en-IN" smtClean="0"/>
              <a:t>‹#›</a:t>
            </a:fld>
            <a:endParaRPr lang="en-IN"/>
          </a:p>
        </p:txBody>
      </p:sp>
    </p:spTree>
    <p:extLst>
      <p:ext uri="{BB962C8B-B14F-4D97-AF65-F5344CB8AC3E}">
        <p14:creationId xmlns:p14="http://schemas.microsoft.com/office/powerpoint/2010/main" val="19861509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0E854E2-7D82-48EE-BE4C-4FD18C32D243}" type="datetimeFigureOut">
              <a:rPr lang="en-IN" smtClean="0"/>
              <a:t>13-04-2026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7E3C55D7-CEBD-4B20-8812-895353458564}" type="slidenum">
              <a:rPr lang="en-IN" smtClean="0"/>
              <a:t>‹#›</a:t>
            </a:fld>
            <a:endParaRPr lang="en-IN"/>
          </a:p>
        </p:txBody>
      </p:sp>
    </p:spTree>
    <p:extLst>
      <p:ext uri="{BB962C8B-B14F-4D97-AF65-F5344CB8AC3E}">
        <p14:creationId xmlns:p14="http://schemas.microsoft.com/office/powerpoint/2010/main" val="19536438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0E854E2-7D82-48EE-BE4C-4FD18C32D243}" type="datetimeFigureOut">
              <a:rPr lang="en-IN" smtClean="0"/>
              <a:t>13-04-2026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7E3C55D7-CEBD-4B20-8812-895353458564}" type="slidenum">
              <a:rPr lang="en-IN" smtClean="0"/>
              <a:t>‹#›</a:t>
            </a:fld>
            <a:endParaRPr lang="en-IN"/>
          </a:p>
        </p:txBody>
      </p:sp>
    </p:spTree>
    <p:extLst>
      <p:ext uri="{BB962C8B-B14F-4D97-AF65-F5344CB8AC3E}">
        <p14:creationId xmlns:p14="http://schemas.microsoft.com/office/powerpoint/2010/main" val="1385320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0E854E2-7D82-48EE-BE4C-4FD18C32D243}" type="datetimeFigureOut">
              <a:rPr lang="en-IN" smtClean="0"/>
              <a:t>13-04-2026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7E3C55D7-CEBD-4B20-8812-895353458564}" type="slidenum">
              <a:rPr lang="en-IN" smtClean="0"/>
              <a:t>‹#›</a:t>
            </a:fld>
            <a:endParaRPr lang="en-IN"/>
          </a:p>
        </p:txBody>
      </p:sp>
    </p:spTree>
    <p:extLst>
      <p:ext uri="{BB962C8B-B14F-4D97-AF65-F5344CB8AC3E}">
        <p14:creationId xmlns:p14="http://schemas.microsoft.com/office/powerpoint/2010/main" val="1554677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0E854E2-7D82-48EE-BE4C-4FD18C32D243}" type="datetimeFigureOut">
              <a:rPr lang="en-IN" smtClean="0"/>
              <a:t>13-04-2026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7E3C55D7-CEBD-4B20-8812-895353458564}" type="slidenum">
              <a:rPr lang="en-IN" smtClean="0"/>
              <a:t>‹#›</a:t>
            </a:fld>
            <a:endParaRPr lang="en-IN"/>
          </a:p>
        </p:txBody>
      </p:sp>
    </p:spTree>
    <p:extLst>
      <p:ext uri="{BB962C8B-B14F-4D97-AF65-F5344CB8AC3E}">
        <p14:creationId xmlns:p14="http://schemas.microsoft.com/office/powerpoint/2010/main" val="36126746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0E854E2-7D82-48EE-BE4C-4FD18C32D243}" type="datetimeFigureOut">
              <a:rPr lang="en-IN" smtClean="0"/>
              <a:t>13-04-2026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7E3C55D7-CEBD-4B20-8812-895353458564}" type="slidenum">
              <a:rPr lang="en-IN" smtClean="0"/>
              <a:t>‹#›</a:t>
            </a:fld>
            <a:endParaRPr lang="en-IN"/>
          </a:p>
        </p:txBody>
      </p:sp>
    </p:spTree>
    <p:extLst>
      <p:ext uri="{BB962C8B-B14F-4D97-AF65-F5344CB8AC3E}">
        <p14:creationId xmlns:p14="http://schemas.microsoft.com/office/powerpoint/2010/main" val="11724761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0E854E2-7D82-48EE-BE4C-4FD18C32D243}" type="datetimeFigureOut">
              <a:rPr lang="en-IN" smtClean="0"/>
              <a:t>13-04-2026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7E3C55D7-CEBD-4B20-8812-895353458564}" type="slidenum">
              <a:rPr lang="en-IN" smtClean="0"/>
              <a:t>‹#›</a:t>
            </a:fld>
            <a:endParaRPr lang="en-IN"/>
          </a:p>
        </p:txBody>
      </p:sp>
    </p:spTree>
    <p:extLst>
      <p:ext uri="{BB962C8B-B14F-4D97-AF65-F5344CB8AC3E}">
        <p14:creationId xmlns:p14="http://schemas.microsoft.com/office/powerpoint/2010/main" val="23945754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0E854E2-7D82-48EE-BE4C-4FD18C32D243}" type="datetimeFigureOut">
              <a:rPr lang="en-IN" smtClean="0"/>
              <a:t>13-04-2026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7E3C55D7-CEBD-4B20-8812-895353458564}" type="slidenum">
              <a:rPr lang="en-IN" smtClean="0"/>
              <a:t>‹#›</a:t>
            </a:fld>
            <a:endParaRPr lang="en-IN"/>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153208228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0E854E2-7D82-48EE-BE4C-4FD18C32D243}" type="datetimeFigureOut">
              <a:rPr lang="en-IN" smtClean="0"/>
              <a:t>13-04-2026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7E3C55D7-CEBD-4B20-8812-895353458564}" type="slidenum">
              <a:rPr lang="en-IN" smtClean="0"/>
              <a:t>‹#›</a:t>
            </a:fld>
            <a:endParaRPr lang="en-IN"/>
          </a:p>
        </p:txBody>
      </p:sp>
    </p:spTree>
    <p:extLst>
      <p:ext uri="{BB962C8B-B14F-4D97-AF65-F5344CB8AC3E}">
        <p14:creationId xmlns:p14="http://schemas.microsoft.com/office/powerpoint/2010/main" val="10575215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E854E2-7D82-48EE-BE4C-4FD18C32D243}" type="datetimeFigureOut">
              <a:rPr lang="en-IN" smtClean="0"/>
              <a:t>13-04-2026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7E3C55D7-CEBD-4B20-8812-895353458564}" type="slidenum">
              <a:rPr lang="en-IN" smtClean="0"/>
              <a:t>‹#›</a:t>
            </a:fld>
            <a:endParaRPr lang="en-IN"/>
          </a:p>
        </p:txBody>
      </p:sp>
    </p:spTree>
    <p:extLst>
      <p:ext uri="{BB962C8B-B14F-4D97-AF65-F5344CB8AC3E}">
        <p14:creationId xmlns:p14="http://schemas.microsoft.com/office/powerpoint/2010/main" val="168051284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E854E2-7D82-48EE-BE4C-4FD18C32D243}" type="datetimeFigureOut">
              <a:rPr lang="en-IN" smtClean="0"/>
              <a:t>13-04-2026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7E3C55D7-CEBD-4B20-8812-895353458564}" type="slidenum">
              <a:rPr lang="en-IN" smtClean="0"/>
              <a:t>‹#›</a:t>
            </a:fld>
            <a:endParaRPr lang="en-IN"/>
          </a:p>
        </p:txBody>
      </p:sp>
    </p:spTree>
    <p:extLst>
      <p:ext uri="{BB962C8B-B14F-4D97-AF65-F5344CB8AC3E}">
        <p14:creationId xmlns:p14="http://schemas.microsoft.com/office/powerpoint/2010/main" val="3234784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0E854E2-7D82-48EE-BE4C-4FD18C32D243}" type="datetimeFigureOut">
              <a:rPr lang="en-IN" smtClean="0"/>
              <a:t>13-04-2026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7E3C55D7-CEBD-4B20-8812-895353458564}" type="slidenum">
              <a:rPr lang="en-IN" smtClean="0"/>
              <a:t>‹#›</a:t>
            </a:fld>
            <a:endParaRPr lang="en-IN"/>
          </a:p>
        </p:txBody>
      </p:sp>
    </p:spTree>
    <p:extLst>
      <p:ext uri="{BB962C8B-B14F-4D97-AF65-F5344CB8AC3E}">
        <p14:creationId xmlns:p14="http://schemas.microsoft.com/office/powerpoint/2010/main" val="26524656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0E854E2-7D82-48EE-BE4C-4FD18C32D243}" type="datetimeFigureOut">
              <a:rPr lang="en-IN" smtClean="0"/>
              <a:t>13-04-2026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7E3C55D7-CEBD-4B20-8812-895353458564}" type="slidenum">
              <a:rPr lang="en-IN" smtClean="0"/>
              <a:t>‹#›</a:t>
            </a:fld>
            <a:endParaRPr lang="en-IN"/>
          </a:p>
        </p:txBody>
      </p:sp>
    </p:spTree>
    <p:extLst>
      <p:ext uri="{BB962C8B-B14F-4D97-AF65-F5344CB8AC3E}">
        <p14:creationId xmlns:p14="http://schemas.microsoft.com/office/powerpoint/2010/main" val="13175700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30E854E2-7D82-48EE-BE4C-4FD18C32D243}" type="datetimeFigureOut">
              <a:rPr lang="en-IN" smtClean="0"/>
              <a:t>13-04-2026</a:t>
            </a:fld>
            <a:endParaRPr lang="en-IN"/>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IN"/>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7E3C55D7-CEBD-4B20-8812-895353458564}" type="slidenum">
              <a:rPr lang="en-IN" smtClean="0"/>
              <a:t>‹#›</a:t>
            </a:fld>
            <a:endParaRPr lang="en-IN"/>
          </a:p>
        </p:txBody>
      </p:sp>
    </p:spTree>
    <p:extLst>
      <p:ext uri="{BB962C8B-B14F-4D97-AF65-F5344CB8AC3E}">
        <p14:creationId xmlns:p14="http://schemas.microsoft.com/office/powerpoint/2010/main" val="371086202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14DC57-48DA-0FFF-26A3-A3305490E8C8}"/>
              </a:ext>
            </a:extLst>
          </p:cNvPr>
          <p:cNvSpPr>
            <a:spLocks noGrp="1"/>
          </p:cNvSpPr>
          <p:nvPr>
            <p:ph type="ctrTitle"/>
          </p:nvPr>
        </p:nvSpPr>
        <p:spPr>
          <a:xfrm>
            <a:off x="-591670" y="1800362"/>
            <a:ext cx="9440034" cy="1828801"/>
          </a:xfrm>
        </p:spPr>
        <p:txBody>
          <a:bodyPr>
            <a:normAutofit fontScale="90000"/>
          </a:bodyPr>
          <a:lstStyle/>
          <a:p>
            <a:r>
              <a:rPr lang="en-US" dirty="0"/>
              <a:t>Fog And Edge:</a:t>
            </a:r>
            <a:br>
              <a:rPr lang="en-US" dirty="0"/>
            </a:br>
            <a:br>
              <a:rPr lang="en-US" dirty="0"/>
            </a:br>
            <a:r>
              <a:rPr lang="en-US" dirty="0" err="1"/>
              <a:t>SmartPark</a:t>
            </a:r>
            <a:r>
              <a:rPr lang="en-US" dirty="0"/>
              <a:t> </a:t>
            </a:r>
            <a:endParaRPr lang="en-IN" dirty="0"/>
          </a:p>
        </p:txBody>
      </p:sp>
      <p:sp>
        <p:nvSpPr>
          <p:cNvPr id="3" name="Subtitle 2">
            <a:extLst>
              <a:ext uri="{FF2B5EF4-FFF2-40B4-BE49-F238E27FC236}">
                <a16:creationId xmlns:a16="http://schemas.microsoft.com/office/drawing/2014/main" id="{A5E14D17-03F8-A515-BFE0-BA186E954F0C}"/>
              </a:ext>
            </a:extLst>
          </p:cNvPr>
          <p:cNvSpPr>
            <a:spLocks noGrp="1"/>
          </p:cNvSpPr>
          <p:nvPr>
            <p:ph type="subTitle" idx="1"/>
          </p:nvPr>
        </p:nvSpPr>
        <p:spPr>
          <a:xfrm>
            <a:off x="4791988" y="5808133"/>
            <a:ext cx="9440034" cy="1049867"/>
          </a:xfrm>
        </p:spPr>
        <p:txBody>
          <a:bodyPr/>
          <a:lstStyle/>
          <a:p>
            <a:r>
              <a:rPr lang="en-US" dirty="0"/>
              <a:t>Jeevanjot Singh</a:t>
            </a:r>
          </a:p>
          <a:p>
            <a:r>
              <a:rPr lang="en-US" dirty="0"/>
              <a:t>24231584</a:t>
            </a:r>
            <a:endParaRPr lang="en-IN" dirty="0"/>
          </a:p>
        </p:txBody>
      </p:sp>
    </p:spTree>
    <p:extLst>
      <p:ext uri="{BB962C8B-B14F-4D97-AF65-F5344CB8AC3E}">
        <p14:creationId xmlns:p14="http://schemas.microsoft.com/office/powerpoint/2010/main" val="4277179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80000"/>
                <a:lumMod val="80000"/>
              </a:schemeClr>
              <a:schemeClr val="bg2">
                <a:tint val="98000"/>
              </a:schemeClr>
            </a:duotone>
          </a:blip>
          <a:stretch/>
        </a:blip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5A781463-0EB6-B069-8362-D0C26183D40A}"/>
              </a:ext>
            </a:extLst>
          </p:cNvPr>
          <p:cNvSpPr>
            <a:spLocks noGrp="1"/>
          </p:cNvSpPr>
          <p:nvPr>
            <p:ph type="title"/>
          </p:nvPr>
        </p:nvSpPr>
        <p:spPr>
          <a:xfrm>
            <a:off x="633743" y="609599"/>
            <a:ext cx="3413156" cy="5273675"/>
          </a:xfrm>
        </p:spPr>
        <p:txBody>
          <a:bodyPr>
            <a:normAutofit/>
          </a:bodyPr>
          <a:lstStyle/>
          <a:p>
            <a:r>
              <a:rPr lang="en-IN" sz="2800" b="1">
                <a:effectLst/>
              </a:rPr>
              <a:t>✅ FUNCTIONAL REQUIREMENTS</a:t>
            </a:r>
            <a:br>
              <a:rPr lang="en-IN" sz="2800" b="1">
                <a:effectLst/>
              </a:rPr>
            </a:br>
            <a:endParaRPr lang="en-IN" sz="2800"/>
          </a:p>
        </p:txBody>
      </p:sp>
      <p:pic>
        <p:nvPicPr>
          <p:cNvPr id="12" name="Picture 11">
            <a:extLst>
              <a:ext uri="{FF2B5EF4-FFF2-40B4-BE49-F238E27FC236}">
                <a16:creationId xmlns:a16="http://schemas.microsoft.com/office/drawing/2014/main" id="{B577D423-FE81-4236-89DE-39776B81094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4680641" y="609599"/>
            <a:ext cx="6889687" cy="5273675"/>
          </a:xfrm>
          <a:prstGeom prst="rect">
            <a:avLst/>
          </a:prstGeom>
        </p:spPr>
      </p:pic>
      <p:graphicFrame>
        <p:nvGraphicFramePr>
          <p:cNvPr id="5" name="Content Placeholder 4">
            <a:extLst>
              <a:ext uri="{FF2B5EF4-FFF2-40B4-BE49-F238E27FC236}">
                <a16:creationId xmlns:a16="http://schemas.microsoft.com/office/drawing/2014/main" id="{27312A30-F2D1-F78B-782F-8F8ED15BC367}"/>
              </a:ext>
            </a:extLst>
          </p:cNvPr>
          <p:cNvGraphicFramePr>
            <a:graphicFrameLocks noGrp="1"/>
          </p:cNvGraphicFramePr>
          <p:nvPr>
            <p:ph idx="1"/>
            <p:extLst>
              <p:ext uri="{D42A27DB-BD31-4B8C-83A1-F6EECF244321}">
                <p14:modId xmlns:p14="http://schemas.microsoft.com/office/powerpoint/2010/main" val="920588371"/>
              </p:ext>
            </p:extLst>
          </p:nvPr>
        </p:nvGraphicFramePr>
        <p:xfrm>
          <a:off x="5041681" y="887213"/>
          <a:ext cx="6142452" cy="5020314"/>
        </p:xfrm>
        <a:graphic>
          <a:graphicData uri="http://schemas.openxmlformats.org/drawingml/2006/table">
            <a:tbl>
              <a:tblPr/>
              <a:tblGrid>
                <a:gridCol w="1578031">
                  <a:extLst>
                    <a:ext uri="{9D8B030D-6E8A-4147-A177-3AD203B41FA5}">
                      <a16:colId xmlns:a16="http://schemas.microsoft.com/office/drawing/2014/main" val="1721584960"/>
                    </a:ext>
                  </a:extLst>
                </a:gridCol>
                <a:gridCol w="4564421">
                  <a:extLst>
                    <a:ext uri="{9D8B030D-6E8A-4147-A177-3AD203B41FA5}">
                      <a16:colId xmlns:a16="http://schemas.microsoft.com/office/drawing/2014/main" val="4169780579"/>
                    </a:ext>
                  </a:extLst>
                </a:gridCol>
              </a:tblGrid>
              <a:tr h="276975">
                <a:tc>
                  <a:txBody>
                    <a:bodyPr/>
                    <a:lstStyle/>
                    <a:p>
                      <a:pPr algn="l" fontAlgn="t">
                        <a:lnSpc>
                          <a:spcPts val="1650"/>
                        </a:lnSpc>
                        <a:buNone/>
                      </a:pPr>
                      <a:r>
                        <a:rPr lang="en-IN" sz="1700" b="1">
                          <a:effectLst/>
                          <a:latin typeface="inherit"/>
                        </a:rPr>
                        <a:t>Term</a:t>
                      </a:r>
                    </a:p>
                  </a:txBody>
                  <a:tcPr marL="23967" marR="23967" marT="23967" marB="23967">
                    <a:lnL>
                      <a:noFill/>
                    </a:lnL>
                    <a:lnR w="5639" cap="flat" cmpd="sng" algn="ctr">
                      <a:solidFill>
                        <a:srgbClr val="803EA6"/>
                      </a:solidFill>
                      <a:prstDash val="solid"/>
                      <a:round/>
                      <a:headEnd type="none" w="med" len="med"/>
                      <a:tailEnd type="none" w="med" len="med"/>
                    </a:lnR>
                    <a:lnT w="5639" cap="flat" cmpd="sng" algn="ctr">
                      <a:solidFill>
                        <a:srgbClr val="006DAA"/>
                      </a:solidFill>
                      <a:prstDash val="solid"/>
                      <a:round/>
                      <a:headEnd type="none" w="med" len="med"/>
                      <a:tailEnd type="none" w="med" len="med"/>
                    </a:lnT>
                    <a:lnB w="5639" cap="flat" cmpd="sng" algn="ctr">
                      <a:solidFill>
                        <a:srgbClr val="A05AAA"/>
                      </a:solidFill>
                      <a:prstDash val="solid"/>
                      <a:round/>
                      <a:headEnd type="none" w="med" len="med"/>
                      <a:tailEnd type="none" w="med" len="med"/>
                    </a:lnB>
                    <a:noFill/>
                  </a:tcPr>
                </a:tc>
                <a:tc>
                  <a:txBody>
                    <a:bodyPr/>
                    <a:lstStyle/>
                    <a:p>
                      <a:pPr algn="l" fontAlgn="t">
                        <a:lnSpc>
                          <a:spcPts val="1650"/>
                        </a:lnSpc>
                        <a:buNone/>
                      </a:pPr>
                      <a:r>
                        <a:rPr lang="en-IN" sz="1700" b="1">
                          <a:effectLst/>
                          <a:latin typeface="inherit"/>
                        </a:rPr>
                        <a:t>Explanation</a:t>
                      </a:r>
                    </a:p>
                  </a:txBody>
                  <a:tcPr marL="23967" marR="23967" marT="23967" marB="23967">
                    <a:lnL w="5639" cap="flat" cmpd="sng" algn="ctr">
                      <a:solidFill>
                        <a:srgbClr val="803EA6"/>
                      </a:solidFill>
                      <a:prstDash val="solid"/>
                      <a:round/>
                      <a:headEnd type="none" w="med" len="med"/>
                      <a:tailEnd type="none" w="med" len="med"/>
                    </a:lnL>
                    <a:lnR>
                      <a:noFill/>
                    </a:lnR>
                    <a:lnT w="5639" cap="flat" cmpd="sng" algn="ctr">
                      <a:solidFill>
                        <a:srgbClr val="803EA6"/>
                      </a:solidFill>
                      <a:prstDash val="solid"/>
                      <a:round/>
                      <a:headEnd type="none" w="med" len="med"/>
                      <a:tailEnd type="none" w="med" len="med"/>
                    </a:lnT>
                    <a:lnB w="5639" cap="flat" cmpd="sng" algn="ctr">
                      <a:solidFill>
                        <a:srgbClr val="C05CA6"/>
                      </a:solidFill>
                      <a:prstDash val="solid"/>
                      <a:round/>
                      <a:headEnd type="none" w="med" len="med"/>
                      <a:tailEnd type="none" w="med" len="med"/>
                    </a:lnB>
                    <a:noFill/>
                  </a:tcPr>
                </a:tc>
                <a:extLst>
                  <a:ext uri="{0D108BD9-81ED-4DB2-BD59-A6C34878D82A}">
                    <a16:rowId xmlns:a16="http://schemas.microsoft.com/office/drawing/2014/main" val="2919045119"/>
                  </a:ext>
                </a:extLst>
              </a:tr>
              <a:tr h="456989">
                <a:tc>
                  <a:txBody>
                    <a:bodyPr/>
                    <a:lstStyle/>
                    <a:p>
                      <a:pPr algn="l" fontAlgn="t">
                        <a:lnSpc>
                          <a:spcPts val="1650"/>
                        </a:lnSpc>
                        <a:buNone/>
                      </a:pPr>
                      <a:r>
                        <a:rPr lang="en-IN" sz="1700" b="1">
                          <a:effectLst/>
                          <a:latin typeface="inherit"/>
                        </a:rPr>
                        <a:t>mTLS</a:t>
                      </a:r>
                      <a:endParaRPr lang="en-IN" sz="1700">
                        <a:effectLst/>
                        <a:latin typeface="inherit"/>
                      </a:endParaRPr>
                    </a:p>
                  </a:txBody>
                  <a:tcPr marL="23967" marR="23967" marT="23967" marB="23967">
                    <a:lnL>
                      <a:noFill/>
                    </a:lnL>
                    <a:lnR w="5639" cap="flat" cmpd="sng" algn="ctr">
                      <a:solidFill>
                        <a:srgbClr val="C05CA6"/>
                      </a:solidFill>
                      <a:prstDash val="solid"/>
                      <a:round/>
                      <a:headEnd type="none" w="med" len="med"/>
                      <a:tailEnd type="none" w="med" len="med"/>
                    </a:lnR>
                    <a:lnT w="5639" cap="flat" cmpd="sng" algn="ctr">
                      <a:solidFill>
                        <a:srgbClr val="A05AAA"/>
                      </a:solidFill>
                      <a:prstDash val="solid"/>
                      <a:round/>
                      <a:headEnd type="none" w="med" len="med"/>
                      <a:tailEnd type="none" w="med" len="med"/>
                    </a:lnT>
                    <a:lnB w="5639" cap="flat" cmpd="sng" algn="ctr">
                      <a:solidFill>
                        <a:srgbClr val="006DAA"/>
                      </a:solidFill>
                      <a:prstDash val="solid"/>
                      <a:round/>
                      <a:headEnd type="none" w="med" len="med"/>
                      <a:tailEnd type="none" w="med" len="med"/>
                    </a:lnB>
                    <a:noFill/>
                  </a:tcPr>
                </a:tc>
                <a:tc>
                  <a:txBody>
                    <a:bodyPr/>
                    <a:lstStyle/>
                    <a:p>
                      <a:pPr algn="l" fontAlgn="t">
                        <a:lnSpc>
                          <a:spcPts val="1650"/>
                        </a:lnSpc>
                        <a:buNone/>
                      </a:pPr>
                      <a:r>
                        <a:rPr lang="en-US" sz="1700">
                          <a:effectLst/>
                          <a:latin typeface="inherit"/>
                        </a:rPr>
                        <a:t>Mutual TLS - both client &amp; server authenticate with certificates[AWS Certs]</a:t>
                      </a:r>
                    </a:p>
                  </a:txBody>
                  <a:tcPr marL="23967" marR="23967" marT="23967" marB="23967">
                    <a:lnL w="5639" cap="flat" cmpd="sng" algn="ctr">
                      <a:solidFill>
                        <a:srgbClr val="C05CA6"/>
                      </a:solidFill>
                      <a:prstDash val="solid"/>
                      <a:round/>
                      <a:headEnd type="none" w="med" len="med"/>
                      <a:tailEnd type="none" w="med" len="med"/>
                    </a:lnL>
                    <a:lnR>
                      <a:noFill/>
                    </a:lnR>
                    <a:lnT w="5639" cap="flat" cmpd="sng" algn="ctr">
                      <a:solidFill>
                        <a:srgbClr val="C05CA6"/>
                      </a:solidFill>
                      <a:prstDash val="solid"/>
                      <a:round/>
                      <a:headEnd type="none" w="med" len="med"/>
                      <a:tailEnd type="none" w="med" len="med"/>
                    </a:lnT>
                    <a:lnB w="5639" cap="flat" cmpd="sng" algn="ctr">
                      <a:solidFill>
                        <a:srgbClr val="9056A6"/>
                      </a:solidFill>
                      <a:prstDash val="solid"/>
                      <a:round/>
                      <a:headEnd type="none" w="med" len="med"/>
                      <a:tailEnd type="none" w="med" len="med"/>
                    </a:lnB>
                    <a:noFill/>
                  </a:tcPr>
                </a:tc>
                <a:extLst>
                  <a:ext uri="{0D108BD9-81ED-4DB2-BD59-A6C34878D82A}">
                    <a16:rowId xmlns:a16="http://schemas.microsoft.com/office/drawing/2014/main" val="903875084"/>
                  </a:ext>
                </a:extLst>
              </a:tr>
              <a:tr h="456989">
                <a:tc>
                  <a:txBody>
                    <a:bodyPr/>
                    <a:lstStyle/>
                    <a:p>
                      <a:pPr algn="l" fontAlgn="t">
                        <a:lnSpc>
                          <a:spcPts val="1650"/>
                        </a:lnSpc>
                        <a:buNone/>
                      </a:pPr>
                      <a:r>
                        <a:rPr lang="en-IN" sz="1700" b="1">
                          <a:effectLst/>
                          <a:latin typeface="inherit"/>
                        </a:rPr>
                        <a:t>QoS 1</a:t>
                      </a:r>
                      <a:endParaRPr lang="en-IN" sz="1700">
                        <a:effectLst/>
                        <a:latin typeface="inherit"/>
                      </a:endParaRPr>
                    </a:p>
                  </a:txBody>
                  <a:tcPr marL="23967" marR="23967" marT="23967" marB="23967">
                    <a:lnL>
                      <a:noFill/>
                    </a:lnL>
                    <a:lnR w="5639" cap="flat" cmpd="sng" algn="ctr">
                      <a:solidFill>
                        <a:srgbClr val="9056A6"/>
                      </a:solidFill>
                      <a:prstDash val="solid"/>
                      <a:round/>
                      <a:headEnd type="none" w="med" len="med"/>
                      <a:tailEnd type="none" w="med" len="med"/>
                    </a:lnR>
                    <a:lnT w="5639" cap="flat" cmpd="sng" algn="ctr">
                      <a:solidFill>
                        <a:srgbClr val="006DAA"/>
                      </a:solidFill>
                      <a:prstDash val="solid"/>
                      <a:round/>
                      <a:headEnd type="none" w="med" len="med"/>
                      <a:tailEnd type="none" w="med" len="med"/>
                    </a:lnT>
                    <a:lnB w="5639" cap="flat" cmpd="sng" algn="ctr">
                      <a:solidFill>
                        <a:srgbClr val="B05DAA"/>
                      </a:solidFill>
                      <a:prstDash val="solid"/>
                      <a:round/>
                      <a:headEnd type="none" w="med" len="med"/>
                      <a:tailEnd type="none" w="med" len="med"/>
                    </a:lnB>
                    <a:noFill/>
                  </a:tcPr>
                </a:tc>
                <a:tc>
                  <a:txBody>
                    <a:bodyPr/>
                    <a:lstStyle/>
                    <a:p>
                      <a:pPr algn="l" fontAlgn="t">
                        <a:lnSpc>
                          <a:spcPts val="1650"/>
                        </a:lnSpc>
                        <a:buNone/>
                      </a:pPr>
                      <a:r>
                        <a:rPr lang="en-US" sz="1700">
                          <a:effectLst/>
                          <a:latin typeface="inherit"/>
                        </a:rPr>
                        <a:t>Quality of Service "At Least Once" - guarantees message delivery</a:t>
                      </a:r>
                    </a:p>
                  </a:txBody>
                  <a:tcPr marL="23967" marR="23967" marT="23967" marB="23967">
                    <a:lnL w="5639" cap="flat" cmpd="sng" algn="ctr">
                      <a:solidFill>
                        <a:srgbClr val="9056A6"/>
                      </a:solidFill>
                      <a:prstDash val="solid"/>
                      <a:round/>
                      <a:headEnd type="none" w="med" len="med"/>
                      <a:tailEnd type="none" w="med" len="med"/>
                    </a:lnL>
                    <a:lnR>
                      <a:noFill/>
                    </a:lnR>
                    <a:lnT w="5639" cap="flat" cmpd="sng" algn="ctr">
                      <a:solidFill>
                        <a:srgbClr val="9056A6"/>
                      </a:solidFill>
                      <a:prstDash val="solid"/>
                      <a:round/>
                      <a:headEnd type="none" w="med" len="med"/>
                      <a:tailEnd type="none" w="med" len="med"/>
                    </a:lnT>
                    <a:lnB w="5639" cap="flat" cmpd="sng" algn="ctr">
                      <a:solidFill>
                        <a:srgbClr val="803EA6"/>
                      </a:solidFill>
                      <a:prstDash val="solid"/>
                      <a:round/>
                      <a:headEnd type="none" w="med" len="med"/>
                      <a:tailEnd type="none" w="med" len="med"/>
                    </a:lnB>
                    <a:noFill/>
                  </a:tcPr>
                </a:tc>
                <a:extLst>
                  <a:ext uri="{0D108BD9-81ED-4DB2-BD59-A6C34878D82A}">
                    <a16:rowId xmlns:a16="http://schemas.microsoft.com/office/drawing/2014/main" val="4293040068"/>
                  </a:ext>
                </a:extLst>
              </a:tr>
              <a:tr h="456989">
                <a:tc>
                  <a:txBody>
                    <a:bodyPr/>
                    <a:lstStyle/>
                    <a:p>
                      <a:pPr algn="l" fontAlgn="t">
                        <a:lnSpc>
                          <a:spcPts val="1650"/>
                        </a:lnSpc>
                        <a:buNone/>
                      </a:pPr>
                      <a:r>
                        <a:rPr lang="en-IN" sz="1700" b="1">
                          <a:effectLst/>
                          <a:latin typeface="inherit"/>
                        </a:rPr>
                        <a:t>Device Shadow</a:t>
                      </a:r>
                      <a:endParaRPr lang="en-IN" sz="1700">
                        <a:effectLst/>
                        <a:latin typeface="inherit"/>
                      </a:endParaRPr>
                    </a:p>
                  </a:txBody>
                  <a:tcPr marL="23967" marR="23967" marT="23967" marB="23967">
                    <a:lnL>
                      <a:noFill/>
                    </a:lnL>
                    <a:lnR w="5639" cap="flat" cmpd="sng" algn="ctr">
                      <a:solidFill>
                        <a:srgbClr val="803EA6"/>
                      </a:solidFill>
                      <a:prstDash val="solid"/>
                      <a:round/>
                      <a:headEnd type="none" w="med" len="med"/>
                      <a:tailEnd type="none" w="med" len="med"/>
                    </a:lnR>
                    <a:lnT w="5639" cap="flat" cmpd="sng" algn="ctr">
                      <a:solidFill>
                        <a:srgbClr val="B05DAA"/>
                      </a:solidFill>
                      <a:prstDash val="solid"/>
                      <a:round/>
                      <a:headEnd type="none" w="med" len="med"/>
                      <a:tailEnd type="none" w="med" len="med"/>
                    </a:lnT>
                    <a:lnB w="5639" cap="flat" cmpd="sng" algn="ctr">
                      <a:solidFill>
                        <a:srgbClr val="B05DAA"/>
                      </a:solidFill>
                      <a:prstDash val="solid"/>
                      <a:round/>
                      <a:headEnd type="none" w="med" len="med"/>
                      <a:tailEnd type="none" w="med" len="med"/>
                    </a:lnB>
                    <a:noFill/>
                  </a:tcPr>
                </a:tc>
                <a:tc>
                  <a:txBody>
                    <a:bodyPr/>
                    <a:lstStyle/>
                    <a:p>
                      <a:pPr algn="l" fontAlgn="t">
                        <a:lnSpc>
                          <a:spcPts val="1650"/>
                        </a:lnSpc>
                        <a:buNone/>
                      </a:pPr>
                      <a:r>
                        <a:rPr lang="en-US" sz="1700">
                          <a:effectLst/>
                          <a:latin typeface="inherit"/>
                        </a:rPr>
                        <a:t>AWS IoT Core's virtual copy of device state (last known values)</a:t>
                      </a:r>
                    </a:p>
                  </a:txBody>
                  <a:tcPr marL="23967" marR="23967" marT="23967" marB="23967">
                    <a:lnL w="5639" cap="flat" cmpd="sng" algn="ctr">
                      <a:solidFill>
                        <a:srgbClr val="803EA6"/>
                      </a:solidFill>
                      <a:prstDash val="solid"/>
                      <a:round/>
                      <a:headEnd type="none" w="med" len="med"/>
                      <a:tailEnd type="none" w="med" len="med"/>
                    </a:lnL>
                    <a:lnR>
                      <a:noFill/>
                    </a:lnR>
                    <a:lnT w="5639" cap="flat" cmpd="sng" algn="ctr">
                      <a:solidFill>
                        <a:srgbClr val="803EA6"/>
                      </a:solidFill>
                      <a:prstDash val="solid"/>
                      <a:round/>
                      <a:headEnd type="none" w="med" len="med"/>
                      <a:tailEnd type="none" w="med" len="med"/>
                    </a:lnT>
                    <a:lnB w="5639" cap="flat" cmpd="sng" algn="ctr">
                      <a:solidFill>
                        <a:srgbClr val="504EA6"/>
                      </a:solidFill>
                      <a:prstDash val="solid"/>
                      <a:round/>
                      <a:headEnd type="none" w="med" len="med"/>
                      <a:tailEnd type="none" w="med" len="med"/>
                    </a:lnB>
                    <a:noFill/>
                  </a:tcPr>
                </a:tc>
                <a:extLst>
                  <a:ext uri="{0D108BD9-81ED-4DB2-BD59-A6C34878D82A}">
                    <a16:rowId xmlns:a16="http://schemas.microsoft.com/office/drawing/2014/main" val="1292431362"/>
                  </a:ext>
                </a:extLst>
              </a:tr>
              <a:tr h="456989">
                <a:tc>
                  <a:txBody>
                    <a:bodyPr/>
                    <a:lstStyle/>
                    <a:p>
                      <a:pPr algn="l" fontAlgn="t">
                        <a:lnSpc>
                          <a:spcPts val="1650"/>
                        </a:lnSpc>
                        <a:buNone/>
                      </a:pPr>
                      <a:r>
                        <a:rPr lang="en-IN" sz="1700" b="1">
                          <a:effectLst/>
                          <a:latin typeface="inherit"/>
                        </a:rPr>
                        <a:t>Sliding Window</a:t>
                      </a:r>
                      <a:endParaRPr lang="en-IN" sz="1700">
                        <a:effectLst/>
                        <a:latin typeface="inherit"/>
                      </a:endParaRPr>
                    </a:p>
                  </a:txBody>
                  <a:tcPr marL="23967" marR="23967" marT="23967" marB="23967">
                    <a:lnL>
                      <a:noFill/>
                    </a:lnL>
                    <a:lnR w="5639" cap="flat" cmpd="sng" algn="ctr">
                      <a:solidFill>
                        <a:srgbClr val="504EA6"/>
                      </a:solidFill>
                      <a:prstDash val="solid"/>
                      <a:round/>
                      <a:headEnd type="none" w="med" len="med"/>
                      <a:tailEnd type="none" w="med" len="med"/>
                    </a:lnR>
                    <a:lnT w="5639" cap="flat" cmpd="sng" algn="ctr">
                      <a:solidFill>
                        <a:srgbClr val="B05DAA"/>
                      </a:solidFill>
                      <a:prstDash val="solid"/>
                      <a:round/>
                      <a:headEnd type="none" w="med" len="med"/>
                      <a:tailEnd type="none" w="med" len="med"/>
                    </a:lnT>
                    <a:lnB w="5639" cap="flat" cmpd="sng" algn="ctr">
                      <a:solidFill>
                        <a:srgbClr val="1077AA"/>
                      </a:solidFill>
                      <a:prstDash val="solid"/>
                      <a:round/>
                      <a:headEnd type="none" w="med" len="med"/>
                      <a:tailEnd type="none" w="med" len="med"/>
                    </a:lnB>
                    <a:noFill/>
                  </a:tcPr>
                </a:tc>
                <a:tc>
                  <a:txBody>
                    <a:bodyPr/>
                    <a:lstStyle/>
                    <a:p>
                      <a:pPr algn="l" fontAlgn="t">
                        <a:lnSpc>
                          <a:spcPts val="1650"/>
                        </a:lnSpc>
                        <a:buNone/>
                      </a:pPr>
                      <a:r>
                        <a:rPr lang="en-US" sz="1700">
                          <a:effectLst/>
                          <a:latin typeface="inherit"/>
                        </a:rPr>
                        <a:t>Fog node keeps last 3 readings (15 seconds) for averaging</a:t>
                      </a:r>
                    </a:p>
                  </a:txBody>
                  <a:tcPr marL="23967" marR="23967" marT="23967" marB="23967">
                    <a:lnL w="5639" cap="flat" cmpd="sng" algn="ctr">
                      <a:solidFill>
                        <a:srgbClr val="504EA6"/>
                      </a:solidFill>
                      <a:prstDash val="solid"/>
                      <a:round/>
                      <a:headEnd type="none" w="med" len="med"/>
                      <a:tailEnd type="none" w="med" len="med"/>
                    </a:lnL>
                    <a:lnR>
                      <a:noFill/>
                    </a:lnR>
                    <a:lnT w="5639" cap="flat" cmpd="sng" algn="ctr">
                      <a:solidFill>
                        <a:srgbClr val="504EA6"/>
                      </a:solidFill>
                      <a:prstDash val="solid"/>
                      <a:round/>
                      <a:headEnd type="none" w="med" len="med"/>
                      <a:tailEnd type="none" w="med" len="med"/>
                    </a:lnT>
                    <a:lnB w="5639" cap="flat" cmpd="sng" algn="ctr">
                      <a:solidFill>
                        <a:srgbClr val="1051A6"/>
                      </a:solidFill>
                      <a:prstDash val="solid"/>
                      <a:round/>
                      <a:headEnd type="none" w="med" len="med"/>
                      <a:tailEnd type="none" w="med" len="med"/>
                    </a:lnB>
                    <a:noFill/>
                  </a:tcPr>
                </a:tc>
                <a:extLst>
                  <a:ext uri="{0D108BD9-81ED-4DB2-BD59-A6C34878D82A}">
                    <a16:rowId xmlns:a16="http://schemas.microsoft.com/office/drawing/2014/main" val="1577810550"/>
                  </a:ext>
                </a:extLst>
              </a:tr>
              <a:tr h="456989">
                <a:tc>
                  <a:txBody>
                    <a:bodyPr/>
                    <a:lstStyle/>
                    <a:p>
                      <a:pPr algn="l" fontAlgn="t">
                        <a:lnSpc>
                          <a:spcPts val="1650"/>
                        </a:lnSpc>
                        <a:buNone/>
                      </a:pPr>
                      <a:r>
                        <a:rPr lang="en-IN" sz="1700" b="1">
                          <a:effectLst/>
                          <a:latin typeface="inherit"/>
                        </a:rPr>
                        <a:t>Bandwidth Optimization</a:t>
                      </a:r>
                      <a:endParaRPr lang="en-IN" sz="1700">
                        <a:effectLst/>
                        <a:latin typeface="inherit"/>
                      </a:endParaRPr>
                    </a:p>
                  </a:txBody>
                  <a:tcPr marL="23967" marR="23967" marT="23967" marB="23967">
                    <a:lnL>
                      <a:noFill/>
                    </a:lnL>
                    <a:lnR w="5639" cap="flat" cmpd="sng" algn="ctr">
                      <a:solidFill>
                        <a:srgbClr val="1051A6"/>
                      </a:solidFill>
                      <a:prstDash val="solid"/>
                      <a:round/>
                      <a:headEnd type="none" w="med" len="med"/>
                      <a:tailEnd type="none" w="med" len="med"/>
                    </a:lnR>
                    <a:lnT w="5639" cap="flat" cmpd="sng" algn="ctr">
                      <a:solidFill>
                        <a:srgbClr val="1077AA"/>
                      </a:solidFill>
                      <a:prstDash val="solid"/>
                      <a:round/>
                      <a:headEnd type="none" w="med" len="med"/>
                      <a:tailEnd type="none" w="med" len="med"/>
                    </a:lnT>
                    <a:lnB w="5639" cap="flat" cmpd="sng" algn="ctr">
                      <a:solidFill>
                        <a:srgbClr val="A07DAA"/>
                      </a:solidFill>
                      <a:prstDash val="solid"/>
                      <a:round/>
                      <a:headEnd type="none" w="med" len="med"/>
                      <a:tailEnd type="none" w="med" len="med"/>
                    </a:lnB>
                    <a:noFill/>
                  </a:tcPr>
                </a:tc>
                <a:tc>
                  <a:txBody>
                    <a:bodyPr/>
                    <a:lstStyle/>
                    <a:p>
                      <a:pPr algn="l" fontAlgn="t">
                        <a:lnSpc>
                          <a:spcPts val="1650"/>
                        </a:lnSpc>
                        <a:buNone/>
                      </a:pPr>
                      <a:r>
                        <a:rPr lang="en-US" sz="1700">
                          <a:effectLst/>
                          <a:latin typeface="inherit"/>
                        </a:rPr>
                        <a:t>Only sending to cloud when score changes &gt;10% (84% cost reduction)</a:t>
                      </a:r>
                    </a:p>
                  </a:txBody>
                  <a:tcPr marL="23967" marR="23967" marT="23967" marB="23967">
                    <a:lnL w="5639" cap="flat" cmpd="sng" algn="ctr">
                      <a:solidFill>
                        <a:srgbClr val="1051A6"/>
                      </a:solidFill>
                      <a:prstDash val="solid"/>
                      <a:round/>
                      <a:headEnd type="none" w="med" len="med"/>
                      <a:tailEnd type="none" w="med" len="med"/>
                    </a:lnL>
                    <a:lnR>
                      <a:noFill/>
                    </a:lnR>
                    <a:lnT w="5639" cap="flat" cmpd="sng" algn="ctr">
                      <a:solidFill>
                        <a:srgbClr val="1051A6"/>
                      </a:solidFill>
                      <a:prstDash val="solid"/>
                      <a:round/>
                      <a:headEnd type="none" w="med" len="med"/>
                      <a:tailEnd type="none" w="med" len="med"/>
                    </a:lnT>
                    <a:lnB w="5639" cap="flat" cmpd="sng" algn="ctr">
                      <a:solidFill>
                        <a:srgbClr val="504EA6"/>
                      </a:solidFill>
                      <a:prstDash val="solid"/>
                      <a:round/>
                      <a:headEnd type="none" w="med" len="med"/>
                      <a:tailEnd type="none" w="med" len="med"/>
                    </a:lnB>
                    <a:noFill/>
                  </a:tcPr>
                </a:tc>
                <a:extLst>
                  <a:ext uri="{0D108BD9-81ED-4DB2-BD59-A6C34878D82A}">
                    <a16:rowId xmlns:a16="http://schemas.microsoft.com/office/drawing/2014/main" val="2405009704"/>
                  </a:ext>
                </a:extLst>
              </a:tr>
              <a:tr h="456989">
                <a:tc>
                  <a:txBody>
                    <a:bodyPr/>
                    <a:lstStyle/>
                    <a:p>
                      <a:pPr algn="l" fontAlgn="t">
                        <a:lnSpc>
                          <a:spcPts val="1650"/>
                        </a:lnSpc>
                        <a:buNone/>
                      </a:pPr>
                      <a:r>
                        <a:rPr lang="en-IN" sz="1700" b="1">
                          <a:effectLst/>
                          <a:latin typeface="inherit"/>
                        </a:rPr>
                        <a:t>FaaS</a:t>
                      </a:r>
                      <a:endParaRPr lang="en-IN" sz="1700">
                        <a:effectLst/>
                        <a:latin typeface="inherit"/>
                      </a:endParaRPr>
                    </a:p>
                  </a:txBody>
                  <a:tcPr marL="23967" marR="23967" marT="23967" marB="23967">
                    <a:lnL>
                      <a:noFill/>
                    </a:lnL>
                    <a:lnR w="5639" cap="flat" cmpd="sng" algn="ctr">
                      <a:solidFill>
                        <a:srgbClr val="504EA6"/>
                      </a:solidFill>
                      <a:prstDash val="solid"/>
                      <a:round/>
                      <a:headEnd type="none" w="med" len="med"/>
                      <a:tailEnd type="none" w="med" len="med"/>
                    </a:lnR>
                    <a:lnT w="5639" cap="flat" cmpd="sng" algn="ctr">
                      <a:solidFill>
                        <a:srgbClr val="A07DAA"/>
                      </a:solidFill>
                      <a:prstDash val="solid"/>
                      <a:round/>
                      <a:headEnd type="none" w="med" len="med"/>
                      <a:tailEnd type="none" w="med" len="med"/>
                    </a:lnT>
                    <a:lnB w="5639" cap="flat" cmpd="sng" algn="ctr">
                      <a:solidFill>
                        <a:srgbClr val="C07CAA"/>
                      </a:solidFill>
                      <a:prstDash val="solid"/>
                      <a:round/>
                      <a:headEnd type="none" w="med" len="med"/>
                      <a:tailEnd type="none" w="med" len="med"/>
                    </a:lnB>
                    <a:noFill/>
                  </a:tcPr>
                </a:tc>
                <a:tc>
                  <a:txBody>
                    <a:bodyPr/>
                    <a:lstStyle/>
                    <a:p>
                      <a:pPr algn="l" fontAlgn="t">
                        <a:lnSpc>
                          <a:spcPts val="1650"/>
                        </a:lnSpc>
                        <a:buNone/>
                      </a:pPr>
                      <a:r>
                        <a:rPr lang="en-US" sz="1700">
                          <a:effectLst/>
                          <a:latin typeface="inherit"/>
                        </a:rPr>
                        <a:t>Function as a Service - Lambda (if you add it for alerts)</a:t>
                      </a:r>
                    </a:p>
                  </a:txBody>
                  <a:tcPr marL="23967" marR="23967" marT="23967" marB="23967">
                    <a:lnL w="5639" cap="flat" cmpd="sng" algn="ctr">
                      <a:solidFill>
                        <a:srgbClr val="504EA6"/>
                      </a:solidFill>
                      <a:prstDash val="solid"/>
                      <a:round/>
                      <a:headEnd type="none" w="med" len="med"/>
                      <a:tailEnd type="none" w="med" len="med"/>
                    </a:lnL>
                    <a:lnR>
                      <a:noFill/>
                    </a:lnR>
                    <a:lnT w="5639" cap="flat" cmpd="sng" algn="ctr">
                      <a:solidFill>
                        <a:srgbClr val="504EA6"/>
                      </a:solidFill>
                      <a:prstDash val="solid"/>
                      <a:round/>
                      <a:headEnd type="none" w="med" len="med"/>
                      <a:tailEnd type="none" w="med" len="med"/>
                    </a:lnT>
                    <a:lnB w="5639" cap="flat" cmpd="sng" algn="ctr">
                      <a:solidFill>
                        <a:srgbClr val="B044A6"/>
                      </a:solidFill>
                      <a:prstDash val="solid"/>
                      <a:round/>
                      <a:headEnd type="none" w="med" len="med"/>
                      <a:tailEnd type="none" w="med" len="med"/>
                    </a:lnB>
                    <a:noFill/>
                  </a:tcPr>
                </a:tc>
                <a:extLst>
                  <a:ext uri="{0D108BD9-81ED-4DB2-BD59-A6C34878D82A}">
                    <a16:rowId xmlns:a16="http://schemas.microsoft.com/office/drawing/2014/main" val="954633438"/>
                  </a:ext>
                </a:extLst>
              </a:tr>
              <a:tr h="456989">
                <a:tc>
                  <a:txBody>
                    <a:bodyPr/>
                    <a:lstStyle/>
                    <a:p>
                      <a:pPr algn="l" fontAlgn="t">
                        <a:lnSpc>
                          <a:spcPts val="1650"/>
                        </a:lnSpc>
                        <a:buNone/>
                      </a:pPr>
                      <a:r>
                        <a:rPr lang="en-IN" sz="1700" b="1">
                          <a:effectLst/>
                          <a:latin typeface="inherit"/>
                        </a:rPr>
                        <a:t>Time-Series DB</a:t>
                      </a:r>
                      <a:endParaRPr lang="en-IN" sz="1700">
                        <a:effectLst/>
                        <a:latin typeface="inherit"/>
                      </a:endParaRPr>
                    </a:p>
                  </a:txBody>
                  <a:tcPr marL="23967" marR="23967" marT="23967" marB="23967">
                    <a:lnL>
                      <a:noFill/>
                    </a:lnL>
                    <a:lnR w="5639" cap="flat" cmpd="sng" algn="ctr">
                      <a:solidFill>
                        <a:srgbClr val="C0A384"/>
                      </a:solidFill>
                      <a:prstDash val="solid"/>
                      <a:round/>
                      <a:headEnd type="none" w="med" len="med"/>
                      <a:tailEnd type="none" w="med" len="med"/>
                    </a:lnR>
                    <a:lnT w="5639" cap="flat" cmpd="sng" algn="ctr">
                      <a:solidFill>
                        <a:srgbClr val="C07CAA"/>
                      </a:solidFill>
                      <a:prstDash val="solid"/>
                      <a:round/>
                      <a:headEnd type="none" w="med" len="med"/>
                      <a:tailEnd type="none" w="med" len="med"/>
                    </a:lnT>
                    <a:lnB w="5639" cap="flat" cmpd="sng" algn="ctr">
                      <a:solidFill>
                        <a:srgbClr val="10331F"/>
                      </a:solidFill>
                      <a:prstDash val="solid"/>
                      <a:round/>
                      <a:headEnd type="none" w="med" len="med"/>
                      <a:tailEnd type="none" w="med" len="med"/>
                    </a:lnB>
                    <a:noFill/>
                  </a:tcPr>
                </a:tc>
                <a:tc>
                  <a:txBody>
                    <a:bodyPr/>
                    <a:lstStyle/>
                    <a:p>
                      <a:pPr algn="l" fontAlgn="t">
                        <a:lnSpc>
                          <a:spcPts val="1650"/>
                        </a:lnSpc>
                        <a:buNone/>
                      </a:pPr>
                      <a:r>
                        <a:rPr lang="en-US" sz="1700">
                          <a:effectLst/>
                          <a:latin typeface="inherit"/>
                        </a:rPr>
                        <a:t>DynamoDB optimized for sequential sensor data (timestamp sort key)</a:t>
                      </a:r>
                    </a:p>
                  </a:txBody>
                  <a:tcPr marL="23967" marR="23967" marT="23967" marB="23967">
                    <a:lnL w="5639" cap="flat" cmpd="sng" algn="ctr">
                      <a:solidFill>
                        <a:srgbClr val="C0A384"/>
                      </a:solidFill>
                      <a:prstDash val="solid"/>
                      <a:round/>
                      <a:headEnd type="none" w="med" len="med"/>
                      <a:tailEnd type="none" w="med" len="med"/>
                    </a:lnL>
                    <a:lnR>
                      <a:noFill/>
                    </a:lnR>
                    <a:lnT w="5639" cap="flat" cmpd="sng" algn="ctr">
                      <a:solidFill>
                        <a:srgbClr val="B044A6"/>
                      </a:solidFill>
                      <a:prstDash val="solid"/>
                      <a:round/>
                      <a:headEnd type="none" w="med" len="med"/>
                      <a:tailEnd type="none" w="med" len="med"/>
                    </a:lnT>
                    <a:lnB w="5639" cap="flat" cmpd="sng" algn="ctr">
                      <a:solidFill>
                        <a:srgbClr val="60AD84"/>
                      </a:solidFill>
                      <a:prstDash val="solid"/>
                      <a:round/>
                      <a:headEnd type="none" w="med" len="med"/>
                      <a:tailEnd type="none" w="med" len="med"/>
                    </a:lnB>
                    <a:noFill/>
                  </a:tcPr>
                </a:tc>
                <a:extLst>
                  <a:ext uri="{0D108BD9-81ED-4DB2-BD59-A6C34878D82A}">
                    <a16:rowId xmlns:a16="http://schemas.microsoft.com/office/drawing/2014/main" val="1489068466"/>
                  </a:ext>
                </a:extLst>
              </a:tr>
              <a:tr h="456989">
                <a:tc>
                  <a:txBody>
                    <a:bodyPr/>
                    <a:lstStyle/>
                    <a:p>
                      <a:pPr algn="l" fontAlgn="t">
                        <a:lnSpc>
                          <a:spcPts val="1650"/>
                        </a:lnSpc>
                        <a:buNone/>
                      </a:pPr>
                      <a:r>
                        <a:rPr lang="en-IN" sz="1700" b="1">
                          <a:effectLst/>
                          <a:latin typeface="inherit"/>
                        </a:rPr>
                        <a:t>Auto-scaling</a:t>
                      </a:r>
                      <a:endParaRPr lang="en-IN" sz="1700">
                        <a:effectLst/>
                        <a:latin typeface="inherit"/>
                      </a:endParaRPr>
                    </a:p>
                  </a:txBody>
                  <a:tcPr marL="23967" marR="23967" marT="23967" marB="23967">
                    <a:lnL>
                      <a:noFill/>
                    </a:lnL>
                    <a:lnR w="5639" cap="flat" cmpd="sng" algn="ctr">
                      <a:solidFill>
                        <a:srgbClr val="60AD84"/>
                      </a:solidFill>
                      <a:prstDash val="solid"/>
                      <a:round/>
                      <a:headEnd type="none" w="med" len="med"/>
                      <a:tailEnd type="none" w="med" len="med"/>
                    </a:lnR>
                    <a:lnT w="5639" cap="flat" cmpd="sng" algn="ctr">
                      <a:solidFill>
                        <a:srgbClr val="10331F"/>
                      </a:solidFill>
                      <a:prstDash val="solid"/>
                      <a:round/>
                      <a:headEnd type="none" w="med" len="med"/>
                      <a:tailEnd type="none" w="med" len="med"/>
                    </a:lnT>
                    <a:lnB w="5639" cap="flat" cmpd="sng" algn="ctr">
                      <a:solidFill>
                        <a:srgbClr val="103A1F"/>
                      </a:solidFill>
                      <a:prstDash val="solid"/>
                      <a:round/>
                      <a:headEnd type="none" w="med" len="med"/>
                      <a:tailEnd type="none" w="med" len="med"/>
                    </a:lnB>
                    <a:noFill/>
                  </a:tcPr>
                </a:tc>
                <a:tc>
                  <a:txBody>
                    <a:bodyPr/>
                    <a:lstStyle/>
                    <a:p>
                      <a:pPr algn="l" fontAlgn="t">
                        <a:lnSpc>
                          <a:spcPts val="1650"/>
                        </a:lnSpc>
                        <a:buNone/>
                      </a:pPr>
                      <a:r>
                        <a:rPr lang="en-US" sz="1700">
                          <a:effectLst/>
                          <a:latin typeface="inherit"/>
                        </a:rPr>
                        <a:t>DynamoDB PAY_PER_REQUEST scales capacity automatically</a:t>
                      </a:r>
                    </a:p>
                  </a:txBody>
                  <a:tcPr marL="23967" marR="23967" marT="23967" marB="23967">
                    <a:lnL w="5639" cap="flat" cmpd="sng" algn="ctr">
                      <a:solidFill>
                        <a:srgbClr val="60AD84"/>
                      </a:solidFill>
                      <a:prstDash val="solid"/>
                      <a:round/>
                      <a:headEnd type="none" w="med" len="med"/>
                      <a:tailEnd type="none" w="med" len="med"/>
                    </a:lnL>
                    <a:lnR>
                      <a:noFill/>
                    </a:lnR>
                    <a:lnT w="5639" cap="flat" cmpd="sng" algn="ctr">
                      <a:solidFill>
                        <a:srgbClr val="60AD84"/>
                      </a:solidFill>
                      <a:prstDash val="solid"/>
                      <a:round/>
                      <a:headEnd type="none" w="med" len="med"/>
                      <a:tailEnd type="none" w="med" len="med"/>
                    </a:lnT>
                    <a:lnB w="5639" cap="flat" cmpd="sng" algn="ctr">
                      <a:solidFill>
                        <a:srgbClr val="20B084"/>
                      </a:solidFill>
                      <a:prstDash val="solid"/>
                      <a:round/>
                      <a:headEnd type="none" w="med" len="med"/>
                      <a:tailEnd type="none" w="med" len="med"/>
                    </a:lnB>
                    <a:noFill/>
                  </a:tcPr>
                </a:tc>
                <a:extLst>
                  <a:ext uri="{0D108BD9-81ED-4DB2-BD59-A6C34878D82A}">
                    <a16:rowId xmlns:a16="http://schemas.microsoft.com/office/drawing/2014/main" val="1991074891"/>
                  </a:ext>
                </a:extLst>
              </a:tr>
              <a:tr h="456989">
                <a:tc>
                  <a:txBody>
                    <a:bodyPr/>
                    <a:lstStyle/>
                    <a:p>
                      <a:pPr algn="l" fontAlgn="t">
                        <a:lnSpc>
                          <a:spcPts val="1650"/>
                        </a:lnSpc>
                        <a:buNone/>
                      </a:pPr>
                      <a:r>
                        <a:rPr lang="en-IN" sz="1700" b="1">
                          <a:effectLst/>
                          <a:latin typeface="inherit"/>
                        </a:rPr>
                        <a:t>Pub/Sub</a:t>
                      </a:r>
                      <a:endParaRPr lang="en-IN" sz="1700">
                        <a:effectLst/>
                        <a:latin typeface="inherit"/>
                      </a:endParaRPr>
                    </a:p>
                  </a:txBody>
                  <a:tcPr marL="23967" marR="23967" marT="23967" marB="23967">
                    <a:lnL>
                      <a:noFill/>
                    </a:lnL>
                    <a:lnR w="5639" cap="flat" cmpd="sng" algn="ctr">
                      <a:solidFill>
                        <a:srgbClr val="20B084"/>
                      </a:solidFill>
                      <a:prstDash val="solid"/>
                      <a:round/>
                      <a:headEnd type="none" w="med" len="med"/>
                      <a:tailEnd type="none" w="med" len="med"/>
                    </a:lnR>
                    <a:lnT w="5639" cap="flat" cmpd="sng" algn="ctr">
                      <a:solidFill>
                        <a:srgbClr val="103A1F"/>
                      </a:solidFill>
                      <a:prstDash val="solid"/>
                      <a:round/>
                      <a:headEnd type="none" w="med" len="med"/>
                      <a:tailEnd type="none" w="med" len="med"/>
                    </a:lnT>
                    <a:lnB w="5639" cap="flat" cmpd="sng" algn="ctr">
                      <a:solidFill>
                        <a:srgbClr val="103A1F"/>
                      </a:solidFill>
                      <a:prstDash val="solid"/>
                      <a:round/>
                      <a:headEnd type="none" w="med" len="med"/>
                      <a:tailEnd type="none" w="med" len="med"/>
                    </a:lnB>
                    <a:noFill/>
                  </a:tcPr>
                </a:tc>
                <a:tc>
                  <a:txBody>
                    <a:bodyPr/>
                    <a:lstStyle/>
                    <a:p>
                      <a:pPr algn="l" fontAlgn="t">
                        <a:lnSpc>
                          <a:spcPts val="1650"/>
                        </a:lnSpc>
                        <a:buNone/>
                      </a:pPr>
                      <a:r>
                        <a:rPr lang="en-US" sz="1700">
                          <a:effectLst/>
                          <a:latin typeface="inherit"/>
                        </a:rPr>
                        <a:t>Publish/Subscribe - IoT Core pattern (topics: </a:t>
                      </a:r>
                      <a:r>
                        <a:rPr lang="en-US" sz="1700">
                          <a:effectLst/>
                          <a:latin typeface="Courier New" panose="02070309020205020404" pitchFamily="49" charset="0"/>
                        </a:rPr>
                        <a:t>sensors/+/raw</a:t>
                      </a:r>
                      <a:r>
                        <a:rPr lang="en-US" sz="1700">
                          <a:effectLst/>
                          <a:latin typeface="inherit"/>
                        </a:rPr>
                        <a:t>)</a:t>
                      </a:r>
                    </a:p>
                  </a:txBody>
                  <a:tcPr marL="23967" marR="23967" marT="23967" marB="23967">
                    <a:lnL w="5639" cap="flat" cmpd="sng" algn="ctr">
                      <a:solidFill>
                        <a:srgbClr val="20B084"/>
                      </a:solidFill>
                      <a:prstDash val="solid"/>
                      <a:round/>
                      <a:headEnd type="none" w="med" len="med"/>
                      <a:tailEnd type="none" w="med" len="med"/>
                    </a:lnL>
                    <a:lnR>
                      <a:noFill/>
                    </a:lnR>
                    <a:lnT w="5639" cap="flat" cmpd="sng" algn="ctr">
                      <a:solidFill>
                        <a:srgbClr val="20B084"/>
                      </a:solidFill>
                      <a:prstDash val="solid"/>
                      <a:round/>
                      <a:headEnd type="none" w="med" len="med"/>
                      <a:tailEnd type="none" w="med" len="med"/>
                    </a:lnT>
                    <a:lnB w="5639" cap="flat" cmpd="sng" algn="ctr">
                      <a:solidFill>
                        <a:srgbClr val="20B084"/>
                      </a:solidFill>
                      <a:prstDash val="solid"/>
                      <a:round/>
                      <a:headEnd type="none" w="med" len="med"/>
                      <a:tailEnd type="none" w="med" len="med"/>
                    </a:lnB>
                    <a:noFill/>
                  </a:tcPr>
                </a:tc>
                <a:extLst>
                  <a:ext uri="{0D108BD9-81ED-4DB2-BD59-A6C34878D82A}">
                    <a16:rowId xmlns:a16="http://schemas.microsoft.com/office/drawing/2014/main" val="4059559012"/>
                  </a:ext>
                </a:extLst>
              </a:tr>
              <a:tr h="328578">
                <a:tc>
                  <a:txBody>
                    <a:bodyPr/>
                    <a:lstStyle/>
                    <a:p>
                      <a:pPr algn="l" fontAlgn="t">
                        <a:lnSpc>
                          <a:spcPts val="1650"/>
                        </a:lnSpc>
                        <a:buNone/>
                      </a:pPr>
                      <a:r>
                        <a:rPr lang="en-IN" sz="1500" b="1">
                          <a:effectLst/>
                          <a:latin typeface="inherit"/>
                        </a:rPr>
                        <a:t>CICD deployment</a:t>
                      </a:r>
                      <a:endParaRPr lang="en-IN" sz="1500">
                        <a:effectLst/>
                        <a:latin typeface="inherit"/>
                      </a:endParaRPr>
                    </a:p>
                  </a:txBody>
                  <a:tcPr marL="52945" marR="52945" marT="52945" marB="52945">
                    <a:lnL>
                      <a:noFill/>
                    </a:lnL>
                    <a:lnR w="5639" cap="flat" cmpd="sng" algn="ctr">
                      <a:solidFill>
                        <a:srgbClr val="20B084"/>
                      </a:solidFill>
                      <a:prstDash val="solid"/>
                      <a:round/>
                      <a:headEnd type="none" w="med" len="med"/>
                      <a:tailEnd type="none" w="med" len="med"/>
                    </a:lnR>
                    <a:lnT w="5639" cap="flat" cmpd="sng" algn="ctr">
                      <a:solidFill>
                        <a:srgbClr val="103A1F"/>
                      </a:solidFill>
                      <a:prstDash val="solid"/>
                      <a:round/>
                      <a:headEnd type="none" w="med" len="med"/>
                      <a:tailEnd type="none" w="med" len="med"/>
                    </a:lnT>
                    <a:lnB w="5639" cap="flat" cmpd="sng" algn="ctr">
                      <a:solidFill>
                        <a:srgbClr val="103A1F"/>
                      </a:solidFill>
                      <a:prstDash val="solid"/>
                      <a:round/>
                      <a:headEnd type="none" w="med" len="med"/>
                      <a:tailEnd type="none" w="med" len="med"/>
                    </a:lnB>
                    <a:noFill/>
                  </a:tcPr>
                </a:tc>
                <a:tc>
                  <a:txBody>
                    <a:bodyPr/>
                    <a:lstStyle/>
                    <a:p>
                      <a:pPr algn="l" fontAlgn="t">
                        <a:lnSpc>
                          <a:spcPts val="1650"/>
                        </a:lnSpc>
                        <a:buNone/>
                      </a:pPr>
                      <a:r>
                        <a:rPr lang="en-IN" sz="1500">
                          <a:effectLst/>
                          <a:latin typeface="inherit"/>
                        </a:rPr>
                        <a:t>GitHub Actions → Elastic Beanstalk</a:t>
                      </a:r>
                    </a:p>
                  </a:txBody>
                  <a:tcPr marL="52945" marR="52945" marT="52945" marB="52945">
                    <a:lnL w="5639" cap="flat" cmpd="sng" algn="ctr">
                      <a:solidFill>
                        <a:srgbClr val="20B084"/>
                      </a:solidFill>
                      <a:prstDash val="solid"/>
                      <a:round/>
                      <a:headEnd type="none" w="med" len="med"/>
                      <a:tailEnd type="none" w="med" len="med"/>
                    </a:lnL>
                    <a:lnR>
                      <a:noFill/>
                    </a:lnR>
                    <a:lnT w="5639" cap="flat" cmpd="sng" algn="ctr">
                      <a:solidFill>
                        <a:srgbClr val="20B084"/>
                      </a:solidFill>
                      <a:prstDash val="solid"/>
                      <a:round/>
                      <a:headEnd type="none" w="med" len="med"/>
                      <a:tailEnd type="none" w="med" len="med"/>
                    </a:lnT>
                    <a:lnB w="5639" cap="flat" cmpd="sng" algn="ctr">
                      <a:solidFill>
                        <a:srgbClr val="20B084"/>
                      </a:solidFill>
                      <a:prstDash val="solid"/>
                      <a:round/>
                      <a:headEnd type="none" w="med" len="med"/>
                      <a:tailEnd type="none" w="med" len="med"/>
                    </a:lnB>
                    <a:noFill/>
                  </a:tcPr>
                </a:tc>
                <a:extLst>
                  <a:ext uri="{0D108BD9-81ED-4DB2-BD59-A6C34878D82A}">
                    <a16:rowId xmlns:a16="http://schemas.microsoft.com/office/drawing/2014/main" val="3449261441"/>
                  </a:ext>
                </a:extLst>
              </a:tr>
            </a:tbl>
          </a:graphicData>
        </a:graphic>
      </p:graphicFrame>
    </p:spTree>
    <p:extLst>
      <p:ext uri="{BB962C8B-B14F-4D97-AF65-F5344CB8AC3E}">
        <p14:creationId xmlns:p14="http://schemas.microsoft.com/office/powerpoint/2010/main" val="13776916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46201-F99F-43AF-403A-385348114347}"/>
              </a:ext>
            </a:extLst>
          </p:cNvPr>
          <p:cNvSpPr>
            <a:spLocks noGrp="1"/>
          </p:cNvSpPr>
          <p:nvPr>
            <p:ph type="title"/>
          </p:nvPr>
        </p:nvSpPr>
        <p:spPr>
          <a:xfrm>
            <a:off x="-3788833" y="261257"/>
            <a:ext cx="10353762" cy="970450"/>
          </a:xfrm>
        </p:spPr>
        <p:txBody>
          <a:bodyPr/>
          <a:lstStyle/>
          <a:p>
            <a:r>
              <a:rPr lang="en-US" dirty="0"/>
              <a:t>HLD</a:t>
            </a:r>
            <a:endParaRPr lang="en-IN" dirty="0"/>
          </a:p>
        </p:txBody>
      </p:sp>
      <p:pic>
        <p:nvPicPr>
          <p:cNvPr id="5" name="Content Placeholder 4">
            <a:extLst>
              <a:ext uri="{FF2B5EF4-FFF2-40B4-BE49-F238E27FC236}">
                <a16:creationId xmlns:a16="http://schemas.microsoft.com/office/drawing/2014/main" id="{0EF22E76-F67F-8379-06C0-57E8031AA60C}"/>
              </a:ext>
            </a:extLst>
          </p:cNvPr>
          <p:cNvPicPr>
            <a:picLocks noGrp="1" noChangeAspect="1"/>
          </p:cNvPicPr>
          <p:nvPr>
            <p:ph idx="1"/>
          </p:nvPr>
        </p:nvPicPr>
        <p:blipFill>
          <a:blip r:embed="rId2"/>
          <a:stretch>
            <a:fillRect/>
          </a:stretch>
        </p:blipFill>
        <p:spPr>
          <a:xfrm>
            <a:off x="3113314" y="14133"/>
            <a:ext cx="9078686" cy="6857246"/>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2156551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80000"/>
                <a:lumMod val="80000"/>
              </a:schemeClr>
              <a:schemeClr val="bg2">
                <a:tint val="98000"/>
              </a:schemeClr>
            </a:duotone>
          </a:blip>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C40BF9-2EA9-E60A-5F8D-6008C7E61970}"/>
              </a:ext>
            </a:extLst>
          </p:cNvPr>
          <p:cNvSpPr>
            <a:spLocks noGrp="1"/>
          </p:cNvSpPr>
          <p:nvPr>
            <p:ph type="title"/>
          </p:nvPr>
        </p:nvSpPr>
        <p:spPr>
          <a:xfrm>
            <a:off x="633743" y="609599"/>
            <a:ext cx="3413156" cy="5273675"/>
          </a:xfrm>
        </p:spPr>
        <p:txBody>
          <a:bodyPr>
            <a:normAutofit/>
          </a:bodyPr>
          <a:lstStyle/>
          <a:p>
            <a:r>
              <a:rPr lang="en-IN" sz="2800" b="1">
                <a:effectLst/>
              </a:rPr>
              <a:t>⚡ NON-FUNCTIONAL REQUIREMENTS</a:t>
            </a:r>
            <a:br>
              <a:rPr lang="en-IN" sz="2800" b="1">
                <a:effectLst/>
              </a:rPr>
            </a:br>
            <a:endParaRPr lang="en-IN" sz="2800"/>
          </a:p>
        </p:txBody>
      </p:sp>
      <p:pic>
        <p:nvPicPr>
          <p:cNvPr id="9" name="Picture 8">
            <a:extLst>
              <a:ext uri="{FF2B5EF4-FFF2-40B4-BE49-F238E27FC236}">
                <a16:creationId xmlns:a16="http://schemas.microsoft.com/office/drawing/2014/main" id="{B577D423-FE81-4236-89DE-39776B81094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4680641" y="609599"/>
            <a:ext cx="6889687" cy="5273675"/>
          </a:xfrm>
          <a:prstGeom prst="rect">
            <a:avLst/>
          </a:prstGeom>
        </p:spPr>
      </p:pic>
      <p:graphicFrame>
        <p:nvGraphicFramePr>
          <p:cNvPr id="4" name="Content Placeholder 3">
            <a:extLst>
              <a:ext uri="{FF2B5EF4-FFF2-40B4-BE49-F238E27FC236}">
                <a16:creationId xmlns:a16="http://schemas.microsoft.com/office/drawing/2014/main" id="{6054508E-83A0-2CD7-2CFF-7E3EFE16BA81}"/>
              </a:ext>
            </a:extLst>
          </p:cNvPr>
          <p:cNvGraphicFramePr>
            <a:graphicFrameLocks noGrp="1"/>
          </p:cNvGraphicFramePr>
          <p:nvPr>
            <p:ph idx="1"/>
            <p:extLst>
              <p:ext uri="{D42A27DB-BD31-4B8C-83A1-F6EECF244321}">
                <p14:modId xmlns:p14="http://schemas.microsoft.com/office/powerpoint/2010/main" val="1123364781"/>
              </p:ext>
            </p:extLst>
          </p:nvPr>
        </p:nvGraphicFramePr>
        <p:xfrm>
          <a:off x="4976423" y="704392"/>
          <a:ext cx="6469528" cy="5273678"/>
        </p:xfrm>
        <a:graphic>
          <a:graphicData uri="http://schemas.openxmlformats.org/drawingml/2006/table">
            <a:tbl>
              <a:tblPr/>
              <a:tblGrid>
                <a:gridCol w="122412">
                  <a:extLst>
                    <a:ext uri="{9D8B030D-6E8A-4147-A177-3AD203B41FA5}">
                      <a16:colId xmlns:a16="http://schemas.microsoft.com/office/drawing/2014/main" val="1244255947"/>
                    </a:ext>
                  </a:extLst>
                </a:gridCol>
                <a:gridCol w="1810004">
                  <a:extLst>
                    <a:ext uri="{9D8B030D-6E8A-4147-A177-3AD203B41FA5}">
                      <a16:colId xmlns:a16="http://schemas.microsoft.com/office/drawing/2014/main" val="842911694"/>
                    </a:ext>
                  </a:extLst>
                </a:gridCol>
                <a:gridCol w="2066304">
                  <a:extLst>
                    <a:ext uri="{9D8B030D-6E8A-4147-A177-3AD203B41FA5}">
                      <a16:colId xmlns:a16="http://schemas.microsoft.com/office/drawing/2014/main" val="2205029475"/>
                    </a:ext>
                  </a:extLst>
                </a:gridCol>
                <a:gridCol w="2470808">
                  <a:extLst>
                    <a:ext uri="{9D8B030D-6E8A-4147-A177-3AD203B41FA5}">
                      <a16:colId xmlns:a16="http://schemas.microsoft.com/office/drawing/2014/main" val="830086647"/>
                    </a:ext>
                  </a:extLst>
                </a:gridCol>
              </a:tblGrid>
              <a:tr h="385148">
                <a:tc>
                  <a:txBody>
                    <a:bodyPr/>
                    <a:lstStyle/>
                    <a:p>
                      <a:pPr algn="l" fontAlgn="t">
                        <a:lnSpc>
                          <a:spcPts val="1650"/>
                        </a:lnSpc>
                        <a:buNone/>
                      </a:pPr>
                      <a:endParaRPr lang="en-IN" sz="1300" b="1">
                        <a:effectLst/>
                        <a:latin typeface="inherit"/>
                      </a:endParaRPr>
                    </a:p>
                  </a:txBody>
                  <a:tcPr marL="46990" marR="46990" marT="46990" marB="46990">
                    <a:lnL>
                      <a:noFill/>
                    </a:lnL>
                    <a:lnR w="5639" cap="flat" cmpd="sng" algn="ctr">
                      <a:solidFill>
                        <a:srgbClr val="B0D18D"/>
                      </a:solidFill>
                      <a:prstDash val="solid"/>
                      <a:round/>
                      <a:headEnd type="none" w="med" len="med"/>
                      <a:tailEnd type="none" w="med" len="med"/>
                    </a:lnR>
                    <a:lnT w="5639" cap="flat" cmpd="sng" algn="ctr">
                      <a:solidFill>
                        <a:srgbClr val="40710A"/>
                      </a:solidFill>
                      <a:prstDash val="solid"/>
                      <a:round/>
                      <a:headEnd type="none" w="med" len="med"/>
                      <a:tailEnd type="none" w="med" len="med"/>
                    </a:lnT>
                    <a:lnB w="5639" cap="flat" cmpd="sng" algn="ctr">
                      <a:solidFill>
                        <a:srgbClr val="C06D0A"/>
                      </a:solidFill>
                      <a:prstDash val="solid"/>
                      <a:round/>
                      <a:headEnd type="none" w="med" len="med"/>
                      <a:tailEnd type="none" w="med" len="med"/>
                    </a:lnB>
                    <a:solidFill>
                      <a:srgbClr val="121212"/>
                    </a:solidFill>
                  </a:tcPr>
                </a:tc>
                <a:tc>
                  <a:txBody>
                    <a:bodyPr/>
                    <a:lstStyle/>
                    <a:p>
                      <a:pPr algn="l" fontAlgn="t">
                        <a:lnSpc>
                          <a:spcPts val="1650"/>
                        </a:lnSpc>
                        <a:buNone/>
                      </a:pPr>
                      <a:r>
                        <a:rPr lang="en-IN" sz="1300" b="1">
                          <a:effectLst/>
                          <a:latin typeface="inherit"/>
                        </a:rPr>
                        <a:t>Requirement</a:t>
                      </a:r>
                    </a:p>
                  </a:txBody>
                  <a:tcPr marL="46990" marR="46990" marT="46990" marB="46990">
                    <a:lnL w="5639" cap="flat" cmpd="sng" algn="ctr">
                      <a:solidFill>
                        <a:srgbClr val="B0D18D"/>
                      </a:solidFill>
                      <a:prstDash val="solid"/>
                      <a:round/>
                      <a:headEnd type="none" w="med" len="med"/>
                      <a:tailEnd type="none" w="med" len="med"/>
                    </a:lnL>
                    <a:lnR w="5639" cap="flat" cmpd="sng" algn="ctr">
                      <a:solidFill>
                        <a:srgbClr val="C0B28D"/>
                      </a:solidFill>
                      <a:prstDash val="solid"/>
                      <a:round/>
                      <a:headEnd type="none" w="med" len="med"/>
                      <a:tailEnd type="none" w="med" len="med"/>
                    </a:lnR>
                    <a:lnT w="5639" cap="flat" cmpd="sng" algn="ctr">
                      <a:solidFill>
                        <a:srgbClr val="B0D18D"/>
                      </a:solidFill>
                      <a:prstDash val="solid"/>
                      <a:round/>
                      <a:headEnd type="none" w="med" len="med"/>
                      <a:tailEnd type="none" w="med" len="med"/>
                    </a:lnT>
                    <a:lnB w="5639" cap="flat" cmpd="sng" algn="ctr">
                      <a:solidFill>
                        <a:srgbClr val="B0BB8D"/>
                      </a:solidFill>
                      <a:prstDash val="solid"/>
                      <a:round/>
                      <a:headEnd type="none" w="med" len="med"/>
                      <a:tailEnd type="none" w="med" len="med"/>
                    </a:lnB>
                    <a:solidFill>
                      <a:srgbClr val="121212"/>
                    </a:solidFill>
                  </a:tcPr>
                </a:tc>
                <a:tc>
                  <a:txBody>
                    <a:bodyPr/>
                    <a:lstStyle/>
                    <a:p>
                      <a:pPr algn="l" fontAlgn="t">
                        <a:lnSpc>
                          <a:spcPts val="1650"/>
                        </a:lnSpc>
                        <a:buNone/>
                      </a:pPr>
                      <a:r>
                        <a:rPr lang="en-IN" sz="1300" b="1">
                          <a:effectLst/>
                          <a:latin typeface="inherit"/>
                        </a:rPr>
                        <a:t>Target</a:t>
                      </a:r>
                    </a:p>
                  </a:txBody>
                  <a:tcPr marL="46990" marR="46990" marT="46990" marB="46990">
                    <a:lnL w="5639" cap="flat" cmpd="sng" algn="ctr">
                      <a:solidFill>
                        <a:srgbClr val="C0B28D"/>
                      </a:solidFill>
                      <a:prstDash val="solid"/>
                      <a:round/>
                      <a:headEnd type="none" w="med" len="med"/>
                      <a:tailEnd type="none" w="med" len="med"/>
                    </a:lnL>
                    <a:lnR w="5639" cap="flat" cmpd="sng" algn="ctr">
                      <a:solidFill>
                        <a:srgbClr val="00BB8D"/>
                      </a:solidFill>
                      <a:prstDash val="solid"/>
                      <a:round/>
                      <a:headEnd type="none" w="med" len="med"/>
                      <a:tailEnd type="none" w="med" len="med"/>
                    </a:lnR>
                    <a:lnT w="5639" cap="flat" cmpd="sng" algn="ctr">
                      <a:solidFill>
                        <a:srgbClr val="C0B28D"/>
                      </a:solidFill>
                      <a:prstDash val="solid"/>
                      <a:round/>
                      <a:headEnd type="none" w="med" len="med"/>
                      <a:tailEnd type="none" w="med" len="med"/>
                    </a:lnT>
                    <a:lnB w="5639" cap="flat" cmpd="sng" algn="ctr">
                      <a:solidFill>
                        <a:srgbClr val="A0CF8D"/>
                      </a:solidFill>
                      <a:prstDash val="solid"/>
                      <a:round/>
                      <a:headEnd type="none" w="med" len="med"/>
                      <a:tailEnd type="none" w="med" len="med"/>
                    </a:lnB>
                    <a:solidFill>
                      <a:srgbClr val="121212"/>
                    </a:solidFill>
                  </a:tcPr>
                </a:tc>
                <a:tc>
                  <a:txBody>
                    <a:bodyPr/>
                    <a:lstStyle/>
                    <a:p>
                      <a:pPr algn="l" fontAlgn="t">
                        <a:lnSpc>
                          <a:spcPts val="1650"/>
                        </a:lnSpc>
                        <a:buNone/>
                      </a:pPr>
                      <a:r>
                        <a:rPr lang="en-IN" sz="1300" b="1">
                          <a:effectLst/>
                          <a:latin typeface="inherit"/>
                        </a:rPr>
                        <a:t>How You Achieved It</a:t>
                      </a:r>
                    </a:p>
                  </a:txBody>
                  <a:tcPr marL="46990" marR="46990" marT="46990" marB="46990">
                    <a:lnL w="5639" cap="flat" cmpd="sng" algn="ctr">
                      <a:solidFill>
                        <a:srgbClr val="00BB8D"/>
                      </a:solidFill>
                      <a:prstDash val="solid"/>
                      <a:round/>
                      <a:headEnd type="none" w="med" len="med"/>
                      <a:tailEnd type="none" w="med" len="med"/>
                    </a:lnL>
                    <a:lnR>
                      <a:noFill/>
                    </a:lnR>
                    <a:lnT w="5639" cap="flat" cmpd="sng" algn="ctr">
                      <a:solidFill>
                        <a:srgbClr val="00BB8D"/>
                      </a:solidFill>
                      <a:prstDash val="solid"/>
                      <a:round/>
                      <a:headEnd type="none" w="med" len="med"/>
                      <a:tailEnd type="none" w="med" len="med"/>
                    </a:lnT>
                    <a:lnB w="5639" cap="flat" cmpd="sng" algn="ctr">
                      <a:solidFill>
                        <a:srgbClr val="E0B68D"/>
                      </a:solidFill>
                      <a:prstDash val="solid"/>
                      <a:round/>
                      <a:headEnd type="none" w="med" len="med"/>
                      <a:tailEnd type="none" w="med" len="med"/>
                    </a:lnB>
                    <a:solidFill>
                      <a:srgbClr val="121212"/>
                    </a:solidFill>
                  </a:tcPr>
                </a:tc>
                <a:extLst>
                  <a:ext uri="{0D108BD9-81ED-4DB2-BD59-A6C34878D82A}">
                    <a16:rowId xmlns:a16="http://schemas.microsoft.com/office/drawing/2014/main" val="1559687568"/>
                  </a:ext>
                </a:extLst>
              </a:tr>
              <a:tr h="385148">
                <a:tc>
                  <a:txBody>
                    <a:bodyPr/>
                    <a:lstStyle/>
                    <a:p>
                      <a:pPr algn="l" fontAlgn="t">
                        <a:lnSpc>
                          <a:spcPts val="1650"/>
                        </a:lnSpc>
                        <a:buNone/>
                      </a:pPr>
                      <a:endParaRPr lang="en-IN" sz="1300">
                        <a:effectLst/>
                        <a:latin typeface="inherit"/>
                      </a:endParaRPr>
                    </a:p>
                  </a:txBody>
                  <a:tcPr marL="46990" marR="46990" marT="46990" marB="46990">
                    <a:lnL>
                      <a:noFill/>
                    </a:lnL>
                    <a:lnR w="5639" cap="flat" cmpd="sng" algn="ctr">
                      <a:solidFill>
                        <a:srgbClr val="B0BB8D"/>
                      </a:solidFill>
                      <a:prstDash val="solid"/>
                      <a:round/>
                      <a:headEnd type="none" w="med" len="med"/>
                      <a:tailEnd type="none" w="med" len="med"/>
                    </a:lnR>
                    <a:lnT w="5639" cap="flat" cmpd="sng" algn="ctr">
                      <a:solidFill>
                        <a:srgbClr val="C06D0A"/>
                      </a:solidFill>
                      <a:prstDash val="solid"/>
                      <a:round/>
                      <a:headEnd type="none" w="med" len="med"/>
                      <a:tailEnd type="none" w="med" len="med"/>
                    </a:lnT>
                    <a:lnB w="5639" cap="flat" cmpd="sng" algn="ctr">
                      <a:solidFill>
                        <a:srgbClr val="E07A0A"/>
                      </a:solidFill>
                      <a:prstDash val="solid"/>
                      <a:round/>
                      <a:headEnd type="none" w="med" len="med"/>
                      <a:tailEnd type="none" w="med" len="med"/>
                    </a:lnB>
                    <a:solidFill>
                      <a:srgbClr val="121212"/>
                    </a:solidFill>
                  </a:tcPr>
                </a:tc>
                <a:tc>
                  <a:txBody>
                    <a:bodyPr/>
                    <a:lstStyle/>
                    <a:p>
                      <a:pPr algn="l" fontAlgn="t">
                        <a:lnSpc>
                          <a:spcPts val="1650"/>
                        </a:lnSpc>
                        <a:buNone/>
                      </a:pPr>
                      <a:r>
                        <a:rPr lang="en-IN" sz="1300" b="1">
                          <a:effectLst/>
                          <a:latin typeface="inherit"/>
                        </a:rPr>
                        <a:t>Latency</a:t>
                      </a:r>
                      <a:endParaRPr lang="en-IN" sz="1300">
                        <a:effectLst/>
                        <a:latin typeface="inherit"/>
                      </a:endParaRPr>
                    </a:p>
                  </a:txBody>
                  <a:tcPr marL="46990" marR="46990" marT="46990" marB="46990">
                    <a:lnL w="5639" cap="flat" cmpd="sng" algn="ctr">
                      <a:solidFill>
                        <a:srgbClr val="B0BB8D"/>
                      </a:solidFill>
                      <a:prstDash val="solid"/>
                      <a:round/>
                      <a:headEnd type="none" w="med" len="med"/>
                      <a:tailEnd type="none" w="med" len="med"/>
                    </a:lnL>
                    <a:lnR w="5639" cap="flat" cmpd="sng" algn="ctr">
                      <a:solidFill>
                        <a:srgbClr val="A0CF8D"/>
                      </a:solidFill>
                      <a:prstDash val="solid"/>
                      <a:round/>
                      <a:headEnd type="none" w="med" len="med"/>
                      <a:tailEnd type="none" w="med" len="med"/>
                    </a:lnR>
                    <a:lnT w="5639" cap="flat" cmpd="sng" algn="ctr">
                      <a:solidFill>
                        <a:srgbClr val="B0BB8D"/>
                      </a:solidFill>
                      <a:prstDash val="solid"/>
                      <a:round/>
                      <a:headEnd type="none" w="med" len="med"/>
                      <a:tailEnd type="none" w="med" len="med"/>
                    </a:lnT>
                    <a:lnB w="5639" cap="flat" cmpd="sng" algn="ctr">
                      <a:solidFill>
                        <a:srgbClr val="E0B68D"/>
                      </a:solidFill>
                      <a:prstDash val="solid"/>
                      <a:round/>
                      <a:headEnd type="none" w="med" len="med"/>
                      <a:tailEnd type="none" w="med" len="med"/>
                    </a:lnB>
                    <a:solidFill>
                      <a:srgbClr val="121212"/>
                    </a:solidFill>
                  </a:tcPr>
                </a:tc>
                <a:tc>
                  <a:txBody>
                    <a:bodyPr/>
                    <a:lstStyle/>
                    <a:p>
                      <a:pPr algn="l" fontAlgn="t">
                        <a:lnSpc>
                          <a:spcPts val="1650"/>
                        </a:lnSpc>
                        <a:buNone/>
                      </a:pPr>
                      <a:r>
                        <a:rPr lang="en-IN" sz="1300">
                          <a:effectLst/>
                          <a:latin typeface="inherit"/>
                        </a:rPr>
                        <a:t>&lt;100ms edge processing</a:t>
                      </a:r>
                    </a:p>
                  </a:txBody>
                  <a:tcPr marL="46990" marR="46990" marT="46990" marB="46990">
                    <a:lnL w="5639" cap="flat" cmpd="sng" algn="ctr">
                      <a:solidFill>
                        <a:srgbClr val="A0CF8D"/>
                      </a:solidFill>
                      <a:prstDash val="solid"/>
                      <a:round/>
                      <a:headEnd type="none" w="med" len="med"/>
                      <a:tailEnd type="none" w="med" len="med"/>
                    </a:lnL>
                    <a:lnR w="5639" cap="flat" cmpd="sng" algn="ctr">
                      <a:solidFill>
                        <a:srgbClr val="E0B68D"/>
                      </a:solidFill>
                      <a:prstDash val="solid"/>
                      <a:round/>
                      <a:headEnd type="none" w="med" len="med"/>
                      <a:tailEnd type="none" w="med" len="med"/>
                    </a:lnR>
                    <a:lnT w="5639" cap="flat" cmpd="sng" algn="ctr">
                      <a:solidFill>
                        <a:srgbClr val="A0CF8D"/>
                      </a:solidFill>
                      <a:prstDash val="solid"/>
                      <a:round/>
                      <a:headEnd type="none" w="med" len="med"/>
                      <a:tailEnd type="none" w="med" len="med"/>
                    </a:lnT>
                    <a:lnB w="5639" cap="flat" cmpd="sng" algn="ctr">
                      <a:solidFill>
                        <a:srgbClr val="C0B28D"/>
                      </a:solidFill>
                      <a:prstDash val="solid"/>
                      <a:round/>
                      <a:headEnd type="none" w="med" len="med"/>
                      <a:tailEnd type="none" w="med" len="med"/>
                    </a:lnB>
                    <a:solidFill>
                      <a:srgbClr val="121212"/>
                    </a:solidFill>
                  </a:tcPr>
                </a:tc>
                <a:tc>
                  <a:txBody>
                    <a:bodyPr/>
                    <a:lstStyle/>
                    <a:p>
                      <a:pPr algn="l" fontAlgn="t">
                        <a:lnSpc>
                          <a:spcPts val="1650"/>
                        </a:lnSpc>
                        <a:buNone/>
                      </a:pPr>
                      <a:r>
                        <a:rPr lang="en-IN" sz="1300">
                          <a:effectLst/>
                          <a:latin typeface="inherit"/>
                        </a:rPr>
                        <a:t>Fog node local calculation</a:t>
                      </a:r>
                    </a:p>
                  </a:txBody>
                  <a:tcPr marL="46990" marR="46990" marT="46990" marB="46990">
                    <a:lnL w="5639" cap="flat" cmpd="sng" algn="ctr">
                      <a:solidFill>
                        <a:srgbClr val="E0B68D"/>
                      </a:solidFill>
                      <a:prstDash val="solid"/>
                      <a:round/>
                      <a:headEnd type="none" w="med" len="med"/>
                      <a:tailEnd type="none" w="med" len="med"/>
                    </a:lnL>
                    <a:lnR>
                      <a:noFill/>
                    </a:lnR>
                    <a:lnT w="5639" cap="flat" cmpd="sng" algn="ctr">
                      <a:solidFill>
                        <a:srgbClr val="E0B68D"/>
                      </a:solidFill>
                      <a:prstDash val="solid"/>
                      <a:round/>
                      <a:headEnd type="none" w="med" len="med"/>
                      <a:tailEnd type="none" w="med" len="med"/>
                    </a:lnT>
                    <a:lnB w="5639" cap="flat" cmpd="sng" algn="ctr">
                      <a:solidFill>
                        <a:srgbClr val="A0CF8D"/>
                      </a:solidFill>
                      <a:prstDash val="solid"/>
                      <a:round/>
                      <a:headEnd type="none" w="med" len="med"/>
                      <a:tailEnd type="none" w="med" len="med"/>
                    </a:lnB>
                    <a:solidFill>
                      <a:srgbClr val="121212"/>
                    </a:solidFill>
                  </a:tcPr>
                </a:tc>
                <a:extLst>
                  <a:ext uri="{0D108BD9-81ED-4DB2-BD59-A6C34878D82A}">
                    <a16:rowId xmlns:a16="http://schemas.microsoft.com/office/drawing/2014/main" val="2837306909"/>
                  </a:ext>
                </a:extLst>
              </a:tr>
              <a:tr h="622181">
                <a:tc>
                  <a:txBody>
                    <a:bodyPr/>
                    <a:lstStyle/>
                    <a:p>
                      <a:pPr algn="l" fontAlgn="t">
                        <a:lnSpc>
                          <a:spcPts val="1650"/>
                        </a:lnSpc>
                        <a:buNone/>
                      </a:pPr>
                      <a:endParaRPr lang="en-IN" sz="1300">
                        <a:effectLst/>
                        <a:latin typeface="inherit"/>
                      </a:endParaRPr>
                    </a:p>
                  </a:txBody>
                  <a:tcPr marL="46990" marR="46990" marT="46990" marB="46990">
                    <a:lnL>
                      <a:noFill/>
                    </a:lnL>
                    <a:lnR w="5639" cap="flat" cmpd="sng" algn="ctr">
                      <a:solidFill>
                        <a:srgbClr val="E0B68D"/>
                      </a:solidFill>
                      <a:prstDash val="solid"/>
                      <a:round/>
                      <a:headEnd type="none" w="med" len="med"/>
                      <a:tailEnd type="none" w="med" len="med"/>
                    </a:lnR>
                    <a:lnT w="5639" cap="flat" cmpd="sng" algn="ctr">
                      <a:solidFill>
                        <a:srgbClr val="E07A0A"/>
                      </a:solidFill>
                      <a:prstDash val="solid"/>
                      <a:round/>
                      <a:headEnd type="none" w="med" len="med"/>
                      <a:tailEnd type="none" w="med" len="med"/>
                    </a:lnT>
                    <a:lnB w="5639" cap="flat" cmpd="sng" algn="ctr">
                      <a:solidFill>
                        <a:srgbClr val="60700A"/>
                      </a:solidFill>
                      <a:prstDash val="solid"/>
                      <a:round/>
                      <a:headEnd type="none" w="med" len="med"/>
                      <a:tailEnd type="none" w="med" len="med"/>
                    </a:lnB>
                    <a:solidFill>
                      <a:srgbClr val="121212"/>
                    </a:solidFill>
                  </a:tcPr>
                </a:tc>
                <a:tc>
                  <a:txBody>
                    <a:bodyPr/>
                    <a:lstStyle/>
                    <a:p>
                      <a:pPr algn="l" fontAlgn="t">
                        <a:lnSpc>
                          <a:spcPts val="1650"/>
                        </a:lnSpc>
                        <a:buNone/>
                      </a:pPr>
                      <a:r>
                        <a:rPr lang="en-IN" sz="1300" b="1">
                          <a:effectLst/>
                          <a:latin typeface="inherit"/>
                        </a:rPr>
                        <a:t>Availability</a:t>
                      </a:r>
                      <a:endParaRPr lang="en-IN" sz="1300">
                        <a:effectLst/>
                        <a:latin typeface="inherit"/>
                      </a:endParaRPr>
                    </a:p>
                  </a:txBody>
                  <a:tcPr marL="46990" marR="46990" marT="46990" marB="46990">
                    <a:lnL w="5639" cap="flat" cmpd="sng" algn="ctr">
                      <a:solidFill>
                        <a:srgbClr val="E0B68D"/>
                      </a:solidFill>
                      <a:prstDash val="solid"/>
                      <a:round/>
                      <a:headEnd type="none" w="med" len="med"/>
                      <a:tailEnd type="none" w="med" len="med"/>
                    </a:lnL>
                    <a:lnR w="5639" cap="flat" cmpd="sng" algn="ctr">
                      <a:solidFill>
                        <a:srgbClr val="C0B28D"/>
                      </a:solidFill>
                      <a:prstDash val="solid"/>
                      <a:round/>
                      <a:headEnd type="none" w="med" len="med"/>
                      <a:tailEnd type="none" w="med" len="med"/>
                    </a:lnR>
                    <a:lnT w="5639" cap="flat" cmpd="sng" algn="ctr">
                      <a:solidFill>
                        <a:srgbClr val="E0B68D"/>
                      </a:solidFill>
                      <a:prstDash val="solid"/>
                      <a:round/>
                      <a:headEnd type="none" w="med" len="med"/>
                      <a:tailEnd type="none" w="med" len="med"/>
                    </a:lnT>
                    <a:lnB w="5639" cap="flat" cmpd="sng" algn="ctr">
                      <a:solidFill>
                        <a:srgbClr val="70BE8D"/>
                      </a:solidFill>
                      <a:prstDash val="solid"/>
                      <a:round/>
                      <a:headEnd type="none" w="med" len="med"/>
                      <a:tailEnd type="none" w="med" len="med"/>
                    </a:lnB>
                    <a:solidFill>
                      <a:srgbClr val="121212"/>
                    </a:solidFill>
                  </a:tcPr>
                </a:tc>
                <a:tc>
                  <a:txBody>
                    <a:bodyPr/>
                    <a:lstStyle/>
                    <a:p>
                      <a:pPr algn="l" fontAlgn="t">
                        <a:lnSpc>
                          <a:spcPts val="1650"/>
                        </a:lnSpc>
                        <a:buNone/>
                      </a:pPr>
                      <a:r>
                        <a:rPr lang="en-IN" sz="1300">
                          <a:effectLst/>
                          <a:latin typeface="inherit"/>
                        </a:rPr>
                        <a:t>99.9%</a:t>
                      </a:r>
                    </a:p>
                  </a:txBody>
                  <a:tcPr marL="46990" marR="46990" marT="46990" marB="46990">
                    <a:lnL w="5639" cap="flat" cmpd="sng" algn="ctr">
                      <a:solidFill>
                        <a:srgbClr val="C0B28D"/>
                      </a:solidFill>
                      <a:prstDash val="solid"/>
                      <a:round/>
                      <a:headEnd type="none" w="med" len="med"/>
                      <a:tailEnd type="none" w="med" len="med"/>
                    </a:lnL>
                    <a:lnR w="5639" cap="flat" cmpd="sng" algn="ctr">
                      <a:solidFill>
                        <a:srgbClr val="A0CF8D"/>
                      </a:solidFill>
                      <a:prstDash val="solid"/>
                      <a:round/>
                      <a:headEnd type="none" w="med" len="med"/>
                      <a:tailEnd type="none" w="med" len="med"/>
                    </a:lnR>
                    <a:lnT w="5639" cap="flat" cmpd="sng" algn="ctr">
                      <a:solidFill>
                        <a:srgbClr val="C0B28D"/>
                      </a:solidFill>
                      <a:prstDash val="solid"/>
                      <a:round/>
                      <a:headEnd type="none" w="med" len="med"/>
                      <a:tailEnd type="none" w="med" len="med"/>
                    </a:lnT>
                    <a:lnB w="5639" cap="flat" cmpd="sng" algn="ctr">
                      <a:solidFill>
                        <a:srgbClr val="C0B28D"/>
                      </a:solidFill>
                      <a:prstDash val="solid"/>
                      <a:round/>
                      <a:headEnd type="none" w="med" len="med"/>
                      <a:tailEnd type="none" w="med" len="med"/>
                    </a:lnB>
                    <a:solidFill>
                      <a:srgbClr val="121212"/>
                    </a:solidFill>
                  </a:tcPr>
                </a:tc>
                <a:tc>
                  <a:txBody>
                    <a:bodyPr/>
                    <a:lstStyle/>
                    <a:p>
                      <a:pPr algn="l" fontAlgn="t">
                        <a:lnSpc>
                          <a:spcPts val="1650"/>
                        </a:lnSpc>
                        <a:buNone/>
                      </a:pPr>
                      <a:r>
                        <a:rPr lang="en-IN" sz="1300">
                          <a:effectLst/>
                          <a:latin typeface="inherit"/>
                        </a:rPr>
                        <a:t>AWS SLA for IoT Core + DynamoDB</a:t>
                      </a:r>
                    </a:p>
                  </a:txBody>
                  <a:tcPr marL="46990" marR="46990" marT="46990" marB="46990">
                    <a:lnL w="5639" cap="flat" cmpd="sng" algn="ctr">
                      <a:solidFill>
                        <a:srgbClr val="A0CF8D"/>
                      </a:solidFill>
                      <a:prstDash val="solid"/>
                      <a:round/>
                      <a:headEnd type="none" w="med" len="med"/>
                      <a:tailEnd type="none" w="med" len="med"/>
                    </a:lnL>
                    <a:lnR>
                      <a:noFill/>
                    </a:lnR>
                    <a:lnT w="5639" cap="flat" cmpd="sng" algn="ctr">
                      <a:solidFill>
                        <a:srgbClr val="A0CF8D"/>
                      </a:solidFill>
                      <a:prstDash val="solid"/>
                      <a:round/>
                      <a:headEnd type="none" w="med" len="med"/>
                      <a:tailEnd type="none" w="med" len="med"/>
                    </a:lnT>
                    <a:lnB w="5639" cap="flat" cmpd="sng" algn="ctr">
                      <a:solidFill>
                        <a:srgbClr val="A0CF8D"/>
                      </a:solidFill>
                      <a:prstDash val="solid"/>
                      <a:round/>
                      <a:headEnd type="none" w="med" len="med"/>
                      <a:tailEnd type="none" w="med" len="med"/>
                    </a:lnB>
                    <a:solidFill>
                      <a:srgbClr val="121212"/>
                    </a:solidFill>
                  </a:tcPr>
                </a:tc>
                <a:extLst>
                  <a:ext uri="{0D108BD9-81ED-4DB2-BD59-A6C34878D82A}">
                    <a16:rowId xmlns:a16="http://schemas.microsoft.com/office/drawing/2014/main" val="164499211"/>
                  </a:ext>
                </a:extLst>
              </a:tr>
              <a:tr h="622181">
                <a:tc>
                  <a:txBody>
                    <a:bodyPr/>
                    <a:lstStyle/>
                    <a:p>
                      <a:pPr algn="l" fontAlgn="t">
                        <a:lnSpc>
                          <a:spcPts val="1650"/>
                        </a:lnSpc>
                        <a:buNone/>
                      </a:pPr>
                      <a:endParaRPr lang="en-IN" sz="1300">
                        <a:effectLst/>
                        <a:latin typeface="inherit"/>
                      </a:endParaRPr>
                    </a:p>
                  </a:txBody>
                  <a:tcPr marL="46990" marR="46990" marT="46990" marB="46990">
                    <a:lnL>
                      <a:noFill/>
                    </a:lnL>
                    <a:lnR w="5639" cap="flat" cmpd="sng" algn="ctr">
                      <a:solidFill>
                        <a:srgbClr val="70BE8D"/>
                      </a:solidFill>
                      <a:prstDash val="solid"/>
                      <a:round/>
                      <a:headEnd type="none" w="med" len="med"/>
                      <a:tailEnd type="none" w="med" len="med"/>
                    </a:lnR>
                    <a:lnT w="5639" cap="flat" cmpd="sng" algn="ctr">
                      <a:solidFill>
                        <a:srgbClr val="60700A"/>
                      </a:solidFill>
                      <a:prstDash val="solid"/>
                      <a:round/>
                      <a:headEnd type="none" w="med" len="med"/>
                      <a:tailEnd type="none" w="med" len="med"/>
                    </a:lnT>
                    <a:lnB w="5639" cap="flat" cmpd="sng" algn="ctr">
                      <a:solidFill>
                        <a:srgbClr val="C07B0A"/>
                      </a:solidFill>
                      <a:prstDash val="solid"/>
                      <a:round/>
                      <a:headEnd type="none" w="med" len="med"/>
                      <a:tailEnd type="none" w="med" len="med"/>
                    </a:lnB>
                    <a:solidFill>
                      <a:srgbClr val="121212"/>
                    </a:solidFill>
                  </a:tcPr>
                </a:tc>
                <a:tc>
                  <a:txBody>
                    <a:bodyPr/>
                    <a:lstStyle/>
                    <a:p>
                      <a:pPr algn="l" fontAlgn="t">
                        <a:lnSpc>
                          <a:spcPts val="1650"/>
                        </a:lnSpc>
                        <a:buNone/>
                      </a:pPr>
                      <a:r>
                        <a:rPr lang="en-IN" sz="1300" b="1">
                          <a:effectLst/>
                          <a:latin typeface="inherit"/>
                        </a:rPr>
                        <a:t>Scalability</a:t>
                      </a:r>
                      <a:endParaRPr lang="en-IN" sz="1300">
                        <a:effectLst/>
                        <a:latin typeface="inherit"/>
                      </a:endParaRPr>
                    </a:p>
                  </a:txBody>
                  <a:tcPr marL="46990" marR="46990" marT="46990" marB="46990">
                    <a:lnL w="5639" cap="flat" cmpd="sng" algn="ctr">
                      <a:solidFill>
                        <a:srgbClr val="70BE8D"/>
                      </a:solidFill>
                      <a:prstDash val="solid"/>
                      <a:round/>
                      <a:headEnd type="none" w="med" len="med"/>
                      <a:tailEnd type="none" w="med" len="med"/>
                    </a:lnL>
                    <a:lnR w="5639" cap="flat" cmpd="sng" algn="ctr">
                      <a:solidFill>
                        <a:srgbClr val="C0B28D"/>
                      </a:solidFill>
                      <a:prstDash val="solid"/>
                      <a:round/>
                      <a:headEnd type="none" w="med" len="med"/>
                      <a:tailEnd type="none" w="med" len="med"/>
                    </a:lnR>
                    <a:lnT w="5639" cap="flat" cmpd="sng" algn="ctr">
                      <a:solidFill>
                        <a:srgbClr val="70BE8D"/>
                      </a:solidFill>
                      <a:prstDash val="solid"/>
                      <a:round/>
                      <a:headEnd type="none" w="med" len="med"/>
                      <a:tailEnd type="none" w="med" len="med"/>
                    </a:lnT>
                    <a:lnB w="5639" cap="flat" cmpd="sng" algn="ctr">
                      <a:solidFill>
                        <a:srgbClr val="A0CF8D"/>
                      </a:solidFill>
                      <a:prstDash val="solid"/>
                      <a:round/>
                      <a:headEnd type="none" w="med" len="med"/>
                      <a:tailEnd type="none" w="med" len="med"/>
                    </a:lnB>
                    <a:solidFill>
                      <a:srgbClr val="121212"/>
                    </a:solidFill>
                  </a:tcPr>
                </a:tc>
                <a:tc>
                  <a:txBody>
                    <a:bodyPr/>
                    <a:lstStyle/>
                    <a:p>
                      <a:pPr algn="l" fontAlgn="t">
                        <a:lnSpc>
                          <a:spcPts val="1650"/>
                        </a:lnSpc>
                        <a:buNone/>
                      </a:pPr>
                      <a:r>
                        <a:rPr lang="en-IN" sz="1300">
                          <a:effectLst/>
                          <a:latin typeface="inherit"/>
                        </a:rPr>
                        <a:t>1000+ parks</a:t>
                      </a:r>
                    </a:p>
                  </a:txBody>
                  <a:tcPr marL="46990" marR="46990" marT="46990" marB="46990">
                    <a:lnL w="5639" cap="flat" cmpd="sng" algn="ctr">
                      <a:solidFill>
                        <a:srgbClr val="C0B28D"/>
                      </a:solidFill>
                      <a:prstDash val="solid"/>
                      <a:round/>
                      <a:headEnd type="none" w="med" len="med"/>
                      <a:tailEnd type="none" w="med" len="med"/>
                    </a:lnL>
                    <a:lnR w="5639" cap="flat" cmpd="sng" algn="ctr">
                      <a:solidFill>
                        <a:srgbClr val="A0CF8D"/>
                      </a:solidFill>
                      <a:prstDash val="solid"/>
                      <a:round/>
                      <a:headEnd type="none" w="med" len="med"/>
                      <a:tailEnd type="none" w="med" len="med"/>
                    </a:lnR>
                    <a:lnT w="5639" cap="flat" cmpd="sng" algn="ctr">
                      <a:solidFill>
                        <a:srgbClr val="C0B28D"/>
                      </a:solidFill>
                      <a:prstDash val="solid"/>
                      <a:round/>
                      <a:headEnd type="none" w="med" len="med"/>
                      <a:tailEnd type="none" w="med" len="med"/>
                    </a:lnT>
                    <a:lnB w="5639" cap="flat" cmpd="sng" algn="ctr">
                      <a:solidFill>
                        <a:srgbClr val="E0B68D"/>
                      </a:solidFill>
                      <a:prstDash val="solid"/>
                      <a:round/>
                      <a:headEnd type="none" w="med" len="med"/>
                      <a:tailEnd type="none" w="med" len="med"/>
                    </a:lnB>
                    <a:solidFill>
                      <a:srgbClr val="121212"/>
                    </a:solidFill>
                  </a:tcPr>
                </a:tc>
                <a:tc>
                  <a:txBody>
                    <a:bodyPr/>
                    <a:lstStyle/>
                    <a:p>
                      <a:pPr algn="l" fontAlgn="t">
                        <a:lnSpc>
                          <a:spcPts val="1650"/>
                        </a:lnSpc>
                        <a:buNone/>
                      </a:pPr>
                      <a:r>
                        <a:rPr lang="en-IN" sz="1300" dirty="0">
                          <a:effectLst/>
                          <a:latin typeface="inherit"/>
                        </a:rPr>
                        <a:t>DynamoDB PAY_PER_REQUEST auto-scales</a:t>
                      </a:r>
                    </a:p>
                  </a:txBody>
                  <a:tcPr marL="46990" marR="46990" marT="46990" marB="46990">
                    <a:lnL w="5639" cap="flat" cmpd="sng" algn="ctr">
                      <a:solidFill>
                        <a:srgbClr val="A0CF8D"/>
                      </a:solidFill>
                      <a:prstDash val="solid"/>
                      <a:round/>
                      <a:headEnd type="none" w="med" len="med"/>
                      <a:tailEnd type="none" w="med" len="med"/>
                    </a:lnL>
                    <a:lnR>
                      <a:noFill/>
                    </a:lnR>
                    <a:lnT w="5639" cap="flat" cmpd="sng" algn="ctr">
                      <a:solidFill>
                        <a:srgbClr val="A0CF8D"/>
                      </a:solidFill>
                      <a:prstDash val="solid"/>
                      <a:round/>
                      <a:headEnd type="none" w="med" len="med"/>
                      <a:tailEnd type="none" w="med" len="med"/>
                    </a:lnT>
                    <a:lnB w="5639" cap="flat" cmpd="sng" algn="ctr">
                      <a:solidFill>
                        <a:srgbClr val="E0B68D"/>
                      </a:solidFill>
                      <a:prstDash val="solid"/>
                      <a:round/>
                      <a:headEnd type="none" w="med" len="med"/>
                      <a:tailEnd type="none" w="med" len="med"/>
                    </a:lnB>
                    <a:solidFill>
                      <a:srgbClr val="121212"/>
                    </a:solidFill>
                  </a:tcPr>
                </a:tc>
                <a:extLst>
                  <a:ext uri="{0D108BD9-81ED-4DB2-BD59-A6C34878D82A}">
                    <a16:rowId xmlns:a16="http://schemas.microsoft.com/office/drawing/2014/main" val="3204292751"/>
                  </a:ext>
                </a:extLst>
              </a:tr>
              <a:tr h="622181">
                <a:tc>
                  <a:txBody>
                    <a:bodyPr/>
                    <a:lstStyle/>
                    <a:p>
                      <a:pPr algn="l" fontAlgn="t">
                        <a:lnSpc>
                          <a:spcPts val="1650"/>
                        </a:lnSpc>
                        <a:buNone/>
                      </a:pPr>
                      <a:endParaRPr lang="en-IN" sz="1300">
                        <a:effectLst/>
                        <a:latin typeface="inherit"/>
                      </a:endParaRPr>
                    </a:p>
                  </a:txBody>
                  <a:tcPr marL="46990" marR="46990" marT="46990" marB="46990">
                    <a:lnL>
                      <a:noFill/>
                    </a:lnL>
                    <a:lnR w="5639" cap="flat" cmpd="sng" algn="ctr">
                      <a:solidFill>
                        <a:srgbClr val="A0CF8D"/>
                      </a:solidFill>
                      <a:prstDash val="solid"/>
                      <a:round/>
                      <a:headEnd type="none" w="med" len="med"/>
                      <a:tailEnd type="none" w="med" len="med"/>
                    </a:lnR>
                    <a:lnT w="5639" cap="flat" cmpd="sng" algn="ctr">
                      <a:solidFill>
                        <a:srgbClr val="C07B0A"/>
                      </a:solidFill>
                      <a:prstDash val="solid"/>
                      <a:round/>
                      <a:headEnd type="none" w="med" len="med"/>
                      <a:tailEnd type="none" w="med" len="med"/>
                    </a:lnT>
                    <a:lnB w="5639" cap="flat" cmpd="sng" algn="ctr">
                      <a:solidFill>
                        <a:srgbClr val="10990A"/>
                      </a:solidFill>
                      <a:prstDash val="solid"/>
                      <a:round/>
                      <a:headEnd type="none" w="med" len="med"/>
                      <a:tailEnd type="none" w="med" len="med"/>
                    </a:lnB>
                    <a:solidFill>
                      <a:srgbClr val="121212"/>
                    </a:solidFill>
                  </a:tcPr>
                </a:tc>
                <a:tc>
                  <a:txBody>
                    <a:bodyPr/>
                    <a:lstStyle/>
                    <a:p>
                      <a:pPr algn="l" fontAlgn="t">
                        <a:lnSpc>
                          <a:spcPts val="1650"/>
                        </a:lnSpc>
                        <a:buNone/>
                      </a:pPr>
                      <a:r>
                        <a:rPr lang="en-IN" sz="1300" b="1">
                          <a:effectLst/>
                          <a:latin typeface="inherit"/>
                        </a:rPr>
                        <a:t>Cost efficiency</a:t>
                      </a:r>
                      <a:endParaRPr lang="en-IN" sz="1300">
                        <a:effectLst/>
                        <a:latin typeface="inherit"/>
                      </a:endParaRPr>
                    </a:p>
                  </a:txBody>
                  <a:tcPr marL="46990" marR="46990" marT="46990" marB="46990">
                    <a:lnL w="5639" cap="flat" cmpd="sng" algn="ctr">
                      <a:solidFill>
                        <a:srgbClr val="A0CF8D"/>
                      </a:solidFill>
                      <a:prstDash val="solid"/>
                      <a:round/>
                      <a:headEnd type="none" w="med" len="med"/>
                      <a:tailEnd type="none" w="med" len="med"/>
                    </a:lnL>
                    <a:lnR w="5639" cap="flat" cmpd="sng" algn="ctr">
                      <a:solidFill>
                        <a:srgbClr val="E0B68D"/>
                      </a:solidFill>
                      <a:prstDash val="solid"/>
                      <a:round/>
                      <a:headEnd type="none" w="med" len="med"/>
                      <a:tailEnd type="none" w="med" len="med"/>
                    </a:lnR>
                    <a:lnT w="5639" cap="flat" cmpd="sng" algn="ctr">
                      <a:solidFill>
                        <a:srgbClr val="A0CF8D"/>
                      </a:solidFill>
                      <a:prstDash val="solid"/>
                      <a:round/>
                      <a:headEnd type="none" w="med" len="med"/>
                      <a:tailEnd type="none" w="med" len="med"/>
                    </a:lnT>
                    <a:lnB w="5639" cap="flat" cmpd="sng" algn="ctr">
                      <a:solidFill>
                        <a:srgbClr val="A0CF8D"/>
                      </a:solidFill>
                      <a:prstDash val="solid"/>
                      <a:round/>
                      <a:headEnd type="none" w="med" len="med"/>
                      <a:tailEnd type="none" w="med" len="med"/>
                    </a:lnB>
                    <a:solidFill>
                      <a:srgbClr val="121212"/>
                    </a:solidFill>
                  </a:tcPr>
                </a:tc>
                <a:tc>
                  <a:txBody>
                    <a:bodyPr/>
                    <a:lstStyle/>
                    <a:p>
                      <a:pPr algn="l" fontAlgn="t">
                        <a:lnSpc>
                          <a:spcPts val="1650"/>
                        </a:lnSpc>
                        <a:buNone/>
                      </a:pPr>
                      <a:r>
                        <a:rPr lang="en-IN" sz="1300">
                          <a:effectLst/>
                          <a:latin typeface="inherit"/>
                        </a:rPr>
                        <a:t>84% cloud cost reduction</a:t>
                      </a:r>
                    </a:p>
                  </a:txBody>
                  <a:tcPr marL="46990" marR="46990" marT="46990" marB="46990">
                    <a:lnL w="5639" cap="flat" cmpd="sng" algn="ctr">
                      <a:solidFill>
                        <a:srgbClr val="E0B68D"/>
                      </a:solidFill>
                      <a:prstDash val="solid"/>
                      <a:round/>
                      <a:headEnd type="none" w="med" len="med"/>
                      <a:tailEnd type="none" w="med" len="med"/>
                    </a:lnL>
                    <a:lnR w="5639" cap="flat" cmpd="sng" algn="ctr">
                      <a:solidFill>
                        <a:srgbClr val="E0B68D"/>
                      </a:solidFill>
                      <a:prstDash val="solid"/>
                      <a:round/>
                      <a:headEnd type="none" w="med" len="med"/>
                      <a:tailEnd type="none" w="med" len="med"/>
                    </a:lnR>
                    <a:lnT w="5639" cap="flat" cmpd="sng" algn="ctr">
                      <a:solidFill>
                        <a:srgbClr val="E0B68D"/>
                      </a:solidFill>
                      <a:prstDash val="solid"/>
                      <a:round/>
                      <a:headEnd type="none" w="med" len="med"/>
                      <a:tailEnd type="none" w="med" len="med"/>
                    </a:lnT>
                    <a:lnB w="5639" cap="flat" cmpd="sng" algn="ctr">
                      <a:solidFill>
                        <a:srgbClr val="70BE8D"/>
                      </a:solidFill>
                      <a:prstDash val="solid"/>
                      <a:round/>
                      <a:headEnd type="none" w="med" len="med"/>
                      <a:tailEnd type="none" w="med" len="med"/>
                    </a:lnB>
                    <a:solidFill>
                      <a:srgbClr val="121212"/>
                    </a:solidFill>
                  </a:tcPr>
                </a:tc>
                <a:tc>
                  <a:txBody>
                    <a:bodyPr/>
                    <a:lstStyle/>
                    <a:p>
                      <a:pPr algn="l" fontAlgn="t">
                        <a:lnSpc>
                          <a:spcPts val="1650"/>
                        </a:lnSpc>
                        <a:buNone/>
                      </a:pPr>
                      <a:r>
                        <a:rPr lang="en-IN" sz="1300">
                          <a:effectLst/>
                          <a:latin typeface="inherit"/>
                        </a:rPr>
                        <a:t>Bandwidth optimization (500K vs 31M messages)</a:t>
                      </a:r>
                    </a:p>
                  </a:txBody>
                  <a:tcPr marL="46990" marR="46990" marT="46990" marB="46990">
                    <a:lnL w="5639" cap="flat" cmpd="sng" algn="ctr">
                      <a:solidFill>
                        <a:srgbClr val="E0B68D"/>
                      </a:solidFill>
                      <a:prstDash val="solid"/>
                      <a:round/>
                      <a:headEnd type="none" w="med" len="med"/>
                      <a:tailEnd type="none" w="med" len="med"/>
                    </a:lnL>
                    <a:lnR>
                      <a:noFill/>
                    </a:lnR>
                    <a:lnT w="5639" cap="flat" cmpd="sng" algn="ctr">
                      <a:solidFill>
                        <a:srgbClr val="E0B68D"/>
                      </a:solidFill>
                      <a:prstDash val="solid"/>
                      <a:round/>
                      <a:headEnd type="none" w="med" len="med"/>
                      <a:tailEnd type="none" w="med" len="med"/>
                    </a:lnT>
                    <a:lnB w="5639" cap="flat" cmpd="sng" algn="ctr">
                      <a:solidFill>
                        <a:srgbClr val="C0B28D"/>
                      </a:solidFill>
                      <a:prstDash val="solid"/>
                      <a:round/>
                      <a:headEnd type="none" w="med" len="med"/>
                      <a:tailEnd type="none" w="med" len="med"/>
                    </a:lnB>
                    <a:solidFill>
                      <a:srgbClr val="121212"/>
                    </a:solidFill>
                  </a:tcPr>
                </a:tc>
                <a:extLst>
                  <a:ext uri="{0D108BD9-81ED-4DB2-BD59-A6C34878D82A}">
                    <a16:rowId xmlns:a16="http://schemas.microsoft.com/office/drawing/2014/main" val="337141672"/>
                  </a:ext>
                </a:extLst>
              </a:tr>
              <a:tr h="622181">
                <a:tc>
                  <a:txBody>
                    <a:bodyPr/>
                    <a:lstStyle/>
                    <a:p>
                      <a:pPr algn="l" fontAlgn="t">
                        <a:lnSpc>
                          <a:spcPts val="1650"/>
                        </a:lnSpc>
                        <a:buNone/>
                      </a:pPr>
                      <a:endParaRPr lang="en-IN" sz="1300">
                        <a:effectLst/>
                        <a:latin typeface="inherit"/>
                      </a:endParaRPr>
                    </a:p>
                  </a:txBody>
                  <a:tcPr marL="46990" marR="46990" marT="46990" marB="46990">
                    <a:lnL>
                      <a:noFill/>
                    </a:lnL>
                    <a:lnR w="5639" cap="flat" cmpd="sng" algn="ctr">
                      <a:solidFill>
                        <a:srgbClr val="A0CF8D"/>
                      </a:solidFill>
                      <a:prstDash val="solid"/>
                      <a:round/>
                      <a:headEnd type="none" w="med" len="med"/>
                      <a:tailEnd type="none" w="med" len="med"/>
                    </a:lnR>
                    <a:lnT w="5639" cap="flat" cmpd="sng" algn="ctr">
                      <a:solidFill>
                        <a:srgbClr val="10990A"/>
                      </a:solidFill>
                      <a:prstDash val="solid"/>
                      <a:round/>
                      <a:headEnd type="none" w="med" len="med"/>
                      <a:tailEnd type="none" w="med" len="med"/>
                    </a:lnT>
                    <a:lnB w="5639" cap="flat" cmpd="sng" algn="ctr">
                      <a:solidFill>
                        <a:srgbClr val="80920A"/>
                      </a:solidFill>
                      <a:prstDash val="solid"/>
                      <a:round/>
                      <a:headEnd type="none" w="med" len="med"/>
                      <a:tailEnd type="none" w="med" len="med"/>
                    </a:lnB>
                    <a:solidFill>
                      <a:srgbClr val="121212"/>
                    </a:solidFill>
                  </a:tcPr>
                </a:tc>
                <a:tc>
                  <a:txBody>
                    <a:bodyPr/>
                    <a:lstStyle/>
                    <a:p>
                      <a:pPr algn="l" fontAlgn="t">
                        <a:lnSpc>
                          <a:spcPts val="1650"/>
                        </a:lnSpc>
                        <a:buNone/>
                      </a:pPr>
                      <a:r>
                        <a:rPr lang="en-IN" sz="1300" b="1" dirty="0">
                          <a:effectLst/>
                          <a:latin typeface="inherit"/>
                        </a:rPr>
                        <a:t>Security</a:t>
                      </a:r>
                      <a:endParaRPr lang="en-IN" sz="1300" dirty="0">
                        <a:effectLst/>
                        <a:latin typeface="inherit"/>
                      </a:endParaRPr>
                    </a:p>
                  </a:txBody>
                  <a:tcPr marL="46990" marR="46990" marT="46990" marB="46990">
                    <a:lnL w="5639" cap="flat" cmpd="sng" algn="ctr">
                      <a:solidFill>
                        <a:srgbClr val="A0CF8D"/>
                      </a:solidFill>
                      <a:prstDash val="solid"/>
                      <a:round/>
                      <a:headEnd type="none" w="med" len="med"/>
                      <a:tailEnd type="none" w="med" len="med"/>
                    </a:lnL>
                    <a:lnR w="5639" cap="flat" cmpd="sng" algn="ctr">
                      <a:solidFill>
                        <a:srgbClr val="70BE8D"/>
                      </a:solidFill>
                      <a:prstDash val="solid"/>
                      <a:round/>
                      <a:headEnd type="none" w="med" len="med"/>
                      <a:tailEnd type="none" w="med" len="med"/>
                    </a:lnR>
                    <a:lnT w="5639" cap="flat" cmpd="sng" algn="ctr">
                      <a:solidFill>
                        <a:srgbClr val="A0CF8D"/>
                      </a:solidFill>
                      <a:prstDash val="solid"/>
                      <a:round/>
                      <a:headEnd type="none" w="med" len="med"/>
                      <a:tailEnd type="none" w="med" len="med"/>
                    </a:lnT>
                    <a:lnB w="5639" cap="flat" cmpd="sng" algn="ctr">
                      <a:solidFill>
                        <a:srgbClr val="C0B28D"/>
                      </a:solidFill>
                      <a:prstDash val="solid"/>
                      <a:round/>
                      <a:headEnd type="none" w="med" len="med"/>
                      <a:tailEnd type="none" w="med" len="med"/>
                    </a:lnB>
                    <a:solidFill>
                      <a:srgbClr val="121212"/>
                    </a:solidFill>
                  </a:tcPr>
                </a:tc>
                <a:tc>
                  <a:txBody>
                    <a:bodyPr/>
                    <a:lstStyle/>
                    <a:p>
                      <a:pPr algn="l" fontAlgn="t">
                        <a:lnSpc>
                          <a:spcPts val="1650"/>
                        </a:lnSpc>
                        <a:buNone/>
                      </a:pPr>
                      <a:r>
                        <a:rPr lang="en-IN" sz="1300">
                          <a:effectLst/>
                          <a:latin typeface="inherit"/>
                        </a:rPr>
                        <a:t>mTLS 1.3, X.509</a:t>
                      </a:r>
                    </a:p>
                  </a:txBody>
                  <a:tcPr marL="46990" marR="46990" marT="46990" marB="46990">
                    <a:lnL w="5639" cap="flat" cmpd="sng" algn="ctr">
                      <a:solidFill>
                        <a:srgbClr val="70BE8D"/>
                      </a:solidFill>
                      <a:prstDash val="solid"/>
                      <a:round/>
                      <a:headEnd type="none" w="med" len="med"/>
                      <a:tailEnd type="none" w="med" len="med"/>
                    </a:lnL>
                    <a:lnR w="5639" cap="flat" cmpd="sng" algn="ctr">
                      <a:solidFill>
                        <a:srgbClr val="C0B28D"/>
                      </a:solidFill>
                      <a:prstDash val="solid"/>
                      <a:round/>
                      <a:headEnd type="none" w="med" len="med"/>
                      <a:tailEnd type="none" w="med" len="med"/>
                    </a:lnR>
                    <a:lnT w="5639" cap="flat" cmpd="sng" algn="ctr">
                      <a:solidFill>
                        <a:srgbClr val="70BE8D"/>
                      </a:solidFill>
                      <a:prstDash val="solid"/>
                      <a:round/>
                      <a:headEnd type="none" w="med" len="med"/>
                      <a:tailEnd type="none" w="med" len="med"/>
                    </a:lnT>
                    <a:lnB w="5639" cap="flat" cmpd="sng" algn="ctr">
                      <a:solidFill>
                        <a:srgbClr val="40FA8D"/>
                      </a:solidFill>
                      <a:prstDash val="solid"/>
                      <a:round/>
                      <a:headEnd type="none" w="med" len="med"/>
                      <a:tailEnd type="none" w="med" len="med"/>
                    </a:lnB>
                    <a:solidFill>
                      <a:srgbClr val="121212"/>
                    </a:solidFill>
                  </a:tcPr>
                </a:tc>
                <a:tc>
                  <a:txBody>
                    <a:bodyPr/>
                    <a:lstStyle/>
                    <a:p>
                      <a:pPr algn="l" fontAlgn="t">
                        <a:lnSpc>
                          <a:spcPts val="1650"/>
                        </a:lnSpc>
                        <a:buNone/>
                      </a:pPr>
                      <a:r>
                        <a:rPr lang="en-IN" sz="1300">
                          <a:effectLst/>
                          <a:latin typeface="inherit"/>
                        </a:rPr>
                        <a:t>Certificate-based MQTT authentication</a:t>
                      </a:r>
                    </a:p>
                  </a:txBody>
                  <a:tcPr marL="46990" marR="46990" marT="46990" marB="46990">
                    <a:lnL w="5639" cap="flat" cmpd="sng" algn="ctr">
                      <a:solidFill>
                        <a:srgbClr val="C0B28D"/>
                      </a:solidFill>
                      <a:prstDash val="solid"/>
                      <a:round/>
                      <a:headEnd type="none" w="med" len="med"/>
                      <a:tailEnd type="none" w="med" len="med"/>
                    </a:lnL>
                    <a:lnR>
                      <a:noFill/>
                    </a:lnR>
                    <a:lnT w="5639" cap="flat" cmpd="sng" algn="ctr">
                      <a:solidFill>
                        <a:srgbClr val="C0B28D"/>
                      </a:solidFill>
                      <a:prstDash val="solid"/>
                      <a:round/>
                      <a:headEnd type="none" w="med" len="med"/>
                      <a:tailEnd type="none" w="med" len="med"/>
                    </a:lnT>
                    <a:lnB w="5639" cap="flat" cmpd="sng" algn="ctr">
                      <a:solidFill>
                        <a:srgbClr val="70DF8D"/>
                      </a:solidFill>
                      <a:prstDash val="solid"/>
                      <a:round/>
                      <a:headEnd type="none" w="med" len="med"/>
                      <a:tailEnd type="none" w="med" len="med"/>
                    </a:lnB>
                    <a:solidFill>
                      <a:srgbClr val="121212"/>
                    </a:solidFill>
                  </a:tcPr>
                </a:tc>
                <a:extLst>
                  <a:ext uri="{0D108BD9-81ED-4DB2-BD59-A6C34878D82A}">
                    <a16:rowId xmlns:a16="http://schemas.microsoft.com/office/drawing/2014/main" val="598521150"/>
                  </a:ext>
                </a:extLst>
              </a:tr>
              <a:tr h="622181">
                <a:tc>
                  <a:txBody>
                    <a:bodyPr/>
                    <a:lstStyle/>
                    <a:p>
                      <a:pPr algn="l" fontAlgn="t">
                        <a:lnSpc>
                          <a:spcPts val="1650"/>
                        </a:lnSpc>
                        <a:buNone/>
                      </a:pPr>
                      <a:endParaRPr lang="en-IN" sz="1300">
                        <a:effectLst/>
                        <a:latin typeface="inherit"/>
                      </a:endParaRPr>
                    </a:p>
                  </a:txBody>
                  <a:tcPr marL="46990" marR="46990" marT="46990" marB="46990">
                    <a:lnL>
                      <a:noFill/>
                    </a:lnL>
                    <a:lnR w="5639" cap="flat" cmpd="sng" algn="ctr">
                      <a:solidFill>
                        <a:srgbClr val="C0B28D"/>
                      </a:solidFill>
                      <a:prstDash val="solid"/>
                      <a:round/>
                      <a:headEnd type="none" w="med" len="med"/>
                      <a:tailEnd type="none" w="med" len="med"/>
                    </a:lnR>
                    <a:lnT w="5639" cap="flat" cmpd="sng" algn="ctr">
                      <a:solidFill>
                        <a:srgbClr val="80920A"/>
                      </a:solidFill>
                      <a:prstDash val="solid"/>
                      <a:round/>
                      <a:headEnd type="none" w="med" len="med"/>
                      <a:tailEnd type="none" w="med" len="med"/>
                    </a:lnT>
                    <a:lnB w="5639" cap="flat" cmpd="sng" algn="ctr">
                      <a:solidFill>
                        <a:srgbClr val="90560A"/>
                      </a:solidFill>
                      <a:prstDash val="solid"/>
                      <a:round/>
                      <a:headEnd type="none" w="med" len="med"/>
                      <a:tailEnd type="none" w="med" len="med"/>
                    </a:lnB>
                    <a:solidFill>
                      <a:srgbClr val="121212"/>
                    </a:solidFill>
                  </a:tcPr>
                </a:tc>
                <a:tc>
                  <a:txBody>
                    <a:bodyPr/>
                    <a:lstStyle/>
                    <a:p>
                      <a:pPr algn="l" fontAlgn="t">
                        <a:lnSpc>
                          <a:spcPts val="1650"/>
                        </a:lnSpc>
                        <a:buNone/>
                      </a:pPr>
                      <a:r>
                        <a:rPr lang="en-IN" sz="1300" b="1">
                          <a:effectLst/>
                          <a:latin typeface="inherit"/>
                        </a:rPr>
                        <a:t>Maintainability</a:t>
                      </a:r>
                      <a:endParaRPr lang="en-IN" sz="1300">
                        <a:effectLst/>
                        <a:latin typeface="inherit"/>
                      </a:endParaRPr>
                    </a:p>
                  </a:txBody>
                  <a:tcPr marL="46990" marR="46990" marT="46990" marB="46990">
                    <a:lnL w="5639" cap="flat" cmpd="sng" algn="ctr">
                      <a:solidFill>
                        <a:srgbClr val="C0B28D"/>
                      </a:solidFill>
                      <a:prstDash val="solid"/>
                      <a:round/>
                      <a:headEnd type="none" w="med" len="med"/>
                      <a:tailEnd type="none" w="med" len="med"/>
                    </a:lnL>
                    <a:lnR w="5639" cap="flat" cmpd="sng" algn="ctr">
                      <a:solidFill>
                        <a:srgbClr val="40FA8D"/>
                      </a:solidFill>
                      <a:prstDash val="solid"/>
                      <a:round/>
                      <a:headEnd type="none" w="med" len="med"/>
                      <a:tailEnd type="none" w="med" len="med"/>
                    </a:lnR>
                    <a:lnT w="5639" cap="flat" cmpd="sng" algn="ctr">
                      <a:solidFill>
                        <a:srgbClr val="C0B28D"/>
                      </a:solidFill>
                      <a:prstDash val="solid"/>
                      <a:round/>
                      <a:headEnd type="none" w="med" len="med"/>
                      <a:tailEnd type="none" w="med" len="med"/>
                    </a:lnT>
                    <a:lnB w="5639" cap="flat" cmpd="sng" algn="ctr">
                      <a:solidFill>
                        <a:srgbClr val="50078E"/>
                      </a:solidFill>
                      <a:prstDash val="solid"/>
                      <a:round/>
                      <a:headEnd type="none" w="med" len="med"/>
                      <a:tailEnd type="none" w="med" len="med"/>
                    </a:lnB>
                    <a:solidFill>
                      <a:srgbClr val="121212"/>
                    </a:solidFill>
                  </a:tcPr>
                </a:tc>
                <a:tc>
                  <a:txBody>
                    <a:bodyPr/>
                    <a:lstStyle/>
                    <a:p>
                      <a:pPr algn="l" fontAlgn="t">
                        <a:lnSpc>
                          <a:spcPts val="1650"/>
                        </a:lnSpc>
                        <a:buNone/>
                      </a:pPr>
                      <a:r>
                        <a:rPr lang="en-IN" sz="1300">
                          <a:effectLst/>
                          <a:latin typeface="inherit"/>
                        </a:rPr>
                        <a:t>Modular code</a:t>
                      </a:r>
                    </a:p>
                  </a:txBody>
                  <a:tcPr marL="46990" marR="46990" marT="46990" marB="46990">
                    <a:lnL w="5639" cap="flat" cmpd="sng" algn="ctr">
                      <a:solidFill>
                        <a:srgbClr val="40FA8D"/>
                      </a:solidFill>
                      <a:prstDash val="solid"/>
                      <a:round/>
                      <a:headEnd type="none" w="med" len="med"/>
                      <a:tailEnd type="none" w="med" len="med"/>
                    </a:lnL>
                    <a:lnR w="5639" cap="flat" cmpd="sng" algn="ctr">
                      <a:solidFill>
                        <a:srgbClr val="70DF8D"/>
                      </a:solidFill>
                      <a:prstDash val="solid"/>
                      <a:round/>
                      <a:headEnd type="none" w="med" len="med"/>
                      <a:tailEnd type="none" w="med" len="med"/>
                    </a:lnR>
                    <a:lnT w="5639" cap="flat" cmpd="sng" algn="ctr">
                      <a:solidFill>
                        <a:srgbClr val="40FA8D"/>
                      </a:solidFill>
                      <a:prstDash val="solid"/>
                      <a:round/>
                      <a:headEnd type="none" w="med" len="med"/>
                      <a:tailEnd type="none" w="med" len="med"/>
                    </a:lnT>
                    <a:lnB w="5639" cap="flat" cmpd="sng" algn="ctr">
                      <a:solidFill>
                        <a:srgbClr val="60098E"/>
                      </a:solidFill>
                      <a:prstDash val="solid"/>
                      <a:round/>
                      <a:headEnd type="none" w="med" len="med"/>
                      <a:tailEnd type="none" w="med" len="med"/>
                    </a:lnB>
                    <a:solidFill>
                      <a:srgbClr val="121212"/>
                    </a:solidFill>
                  </a:tcPr>
                </a:tc>
                <a:tc>
                  <a:txBody>
                    <a:bodyPr/>
                    <a:lstStyle/>
                    <a:p>
                      <a:pPr algn="l" fontAlgn="t">
                        <a:lnSpc>
                          <a:spcPts val="1650"/>
                        </a:lnSpc>
                        <a:buNone/>
                      </a:pPr>
                      <a:r>
                        <a:rPr lang="en-US" sz="1300">
                          <a:effectLst/>
                          <a:latin typeface="inherit"/>
                        </a:rPr>
                        <a:t>Separate sensor functions, clear comments</a:t>
                      </a:r>
                    </a:p>
                  </a:txBody>
                  <a:tcPr marL="46990" marR="46990" marT="46990" marB="46990">
                    <a:lnL w="5639" cap="flat" cmpd="sng" algn="ctr">
                      <a:solidFill>
                        <a:srgbClr val="70DF8D"/>
                      </a:solidFill>
                      <a:prstDash val="solid"/>
                      <a:round/>
                      <a:headEnd type="none" w="med" len="med"/>
                      <a:tailEnd type="none" w="med" len="med"/>
                    </a:lnL>
                    <a:lnR>
                      <a:noFill/>
                    </a:lnR>
                    <a:lnT w="5639" cap="flat" cmpd="sng" algn="ctr">
                      <a:solidFill>
                        <a:srgbClr val="70DF8D"/>
                      </a:solidFill>
                      <a:prstDash val="solid"/>
                      <a:round/>
                      <a:headEnd type="none" w="med" len="med"/>
                      <a:tailEnd type="none" w="med" len="med"/>
                    </a:lnT>
                    <a:lnB w="5639" cap="flat" cmpd="sng" algn="ctr">
                      <a:solidFill>
                        <a:srgbClr val="80EC8D"/>
                      </a:solidFill>
                      <a:prstDash val="solid"/>
                      <a:round/>
                      <a:headEnd type="none" w="med" len="med"/>
                      <a:tailEnd type="none" w="med" len="med"/>
                    </a:lnB>
                    <a:solidFill>
                      <a:srgbClr val="121212"/>
                    </a:solidFill>
                  </a:tcPr>
                </a:tc>
                <a:extLst>
                  <a:ext uri="{0D108BD9-81ED-4DB2-BD59-A6C34878D82A}">
                    <a16:rowId xmlns:a16="http://schemas.microsoft.com/office/drawing/2014/main" val="3777781859"/>
                  </a:ext>
                </a:extLst>
              </a:tr>
              <a:tr h="385148">
                <a:tc>
                  <a:txBody>
                    <a:bodyPr/>
                    <a:lstStyle/>
                    <a:p>
                      <a:pPr algn="l" fontAlgn="t">
                        <a:lnSpc>
                          <a:spcPts val="1650"/>
                        </a:lnSpc>
                        <a:buNone/>
                      </a:pPr>
                      <a:endParaRPr lang="en-IN" sz="1300">
                        <a:effectLst/>
                        <a:latin typeface="inherit"/>
                      </a:endParaRPr>
                    </a:p>
                  </a:txBody>
                  <a:tcPr marL="46990" marR="46990" marT="46990" marB="46990">
                    <a:lnL>
                      <a:noFill/>
                    </a:lnL>
                    <a:lnR w="5639" cap="flat" cmpd="sng" algn="ctr">
                      <a:solidFill>
                        <a:srgbClr val="50078E"/>
                      </a:solidFill>
                      <a:prstDash val="solid"/>
                      <a:round/>
                      <a:headEnd type="none" w="med" len="med"/>
                      <a:tailEnd type="none" w="med" len="med"/>
                    </a:lnR>
                    <a:lnT w="5639" cap="flat" cmpd="sng" algn="ctr">
                      <a:solidFill>
                        <a:srgbClr val="90560A"/>
                      </a:solidFill>
                      <a:prstDash val="solid"/>
                      <a:round/>
                      <a:headEnd type="none" w="med" len="med"/>
                      <a:tailEnd type="none" w="med" len="med"/>
                    </a:lnT>
                    <a:lnB w="5639" cap="flat" cmpd="sng" algn="ctr">
                      <a:solidFill>
                        <a:srgbClr val="008F0A"/>
                      </a:solidFill>
                      <a:prstDash val="solid"/>
                      <a:round/>
                      <a:headEnd type="none" w="med" len="med"/>
                      <a:tailEnd type="none" w="med" len="med"/>
                    </a:lnB>
                    <a:solidFill>
                      <a:srgbClr val="121212"/>
                    </a:solidFill>
                  </a:tcPr>
                </a:tc>
                <a:tc>
                  <a:txBody>
                    <a:bodyPr/>
                    <a:lstStyle/>
                    <a:p>
                      <a:pPr algn="l" fontAlgn="t">
                        <a:lnSpc>
                          <a:spcPts val="1650"/>
                        </a:lnSpc>
                        <a:buNone/>
                      </a:pPr>
                      <a:r>
                        <a:rPr lang="en-IN" sz="1300" b="1">
                          <a:effectLst/>
                          <a:latin typeface="inherit"/>
                        </a:rPr>
                        <a:t>Reliability</a:t>
                      </a:r>
                      <a:endParaRPr lang="en-IN" sz="1300">
                        <a:effectLst/>
                        <a:latin typeface="inherit"/>
                      </a:endParaRPr>
                    </a:p>
                  </a:txBody>
                  <a:tcPr marL="46990" marR="46990" marT="46990" marB="46990">
                    <a:lnL w="5639" cap="flat" cmpd="sng" algn="ctr">
                      <a:solidFill>
                        <a:srgbClr val="50078E"/>
                      </a:solidFill>
                      <a:prstDash val="solid"/>
                      <a:round/>
                      <a:headEnd type="none" w="med" len="med"/>
                      <a:tailEnd type="none" w="med" len="med"/>
                    </a:lnL>
                    <a:lnR w="5639" cap="flat" cmpd="sng" algn="ctr">
                      <a:solidFill>
                        <a:srgbClr val="60098E"/>
                      </a:solidFill>
                      <a:prstDash val="solid"/>
                      <a:round/>
                      <a:headEnd type="none" w="med" len="med"/>
                      <a:tailEnd type="none" w="med" len="med"/>
                    </a:lnR>
                    <a:lnT w="5639" cap="flat" cmpd="sng" algn="ctr">
                      <a:solidFill>
                        <a:srgbClr val="50078E"/>
                      </a:solidFill>
                      <a:prstDash val="solid"/>
                      <a:round/>
                      <a:headEnd type="none" w="med" len="med"/>
                      <a:tailEnd type="none" w="med" len="med"/>
                    </a:lnT>
                    <a:lnB w="5639" cap="flat" cmpd="sng" algn="ctr">
                      <a:solidFill>
                        <a:srgbClr val="60F38D"/>
                      </a:solidFill>
                      <a:prstDash val="solid"/>
                      <a:round/>
                      <a:headEnd type="none" w="med" len="med"/>
                      <a:tailEnd type="none" w="med" len="med"/>
                    </a:lnB>
                    <a:solidFill>
                      <a:srgbClr val="121212"/>
                    </a:solidFill>
                  </a:tcPr>
                </a:tc>
                <a:tc>
                  <a:txBody>
                    <a:bodyPr/>
                    <a:lstStyle/>
                    <a:p>
                      <a:pPr algn="l" fontAlgn="t">
                        <a:lnSpc>
                          <a:spcPts val="1650"/>
                        </a:lnSpc>
                        <a:buNone/>
                      </a:pPr>
                      <a:r>
                        <a:rPr lang="en-IN" sz="1300">
                          <a:effectLst/>
                          <a:latin typeface="inherit"/>
                        </a:rPr>
                        <a:t>At-least-once delivery</a:t>
                      </a:r>
                    </a:p>
                  </a:txBody>
                  <a:tcPr marL="46990" marR="46990" marT="46990" marB="46990">
                    <a:lnL w="5639" cap="flat" cmpd="sng" algn="ctr">
                      <a:solidFill>
                        <a:srgbClr val="60098E"/>
                      </a:solidFill>
                      <a:prstDash val="solid"/>
                      <a:round/>
                      <a:headEnd type="none" w="med" len="med"/>
                      <a:tailEnd type="none" w="med" len="med"/>
                    </a:lnL>
                    <a:lnR w="5639" cap="flat" cmpd="sng" algn="ctr">
                      <a:solidFill>
                        <a:srgbClr val="80EC8D"/>
                      </a:solidFill>
                      <a:prstDash val="solid"/>
                      <a:round/>
                      <a:headEnd type="none" w="med" len="med"/>
                      <a:tailEnd type="none" w="med" len="med"/>
                    </a:lnR>
                    <a:lnT w="5639" cap="flat" cmpd="sng" algn="ctr">
                      <a:solidFill>
                        <a:srgbClr val="60098E"/>
                      </a:solidFill>
                      <a:prstDash val="solid"/>
                      <a:round/>
                      <a:headEnd type="none" w="med" len="med"/>
                      <a:tailEnd type="none" w="med" len="med"/>
                    </a:lnT>
                    <a:lnB w="5639" cap="flat" cmpd="sng" algn="ctr">
                      <a:solidFill>
                        <a:srgbClr val="60F38D"/>
                      </a:solidFill>
                      <a:prstDash val="solid"/>
                      <a:round/>
                      <a:headEnd type="none" w="med" len="med"/>
                      <a:tailEnd type="none" w="med" len="med"/>
                    </a:lnB>
                    <a:solidFill>
                      <a:srgbClr val="121212"/>
                    </a:solidFill>
                  </a:tcPr>
                </a:tc>
                <a:tc>
                  <a:txBody>
                    <a:bodyPr/>
                    <a:lstStyle/>
                    <a:p>
                      <a:pPr algn="l" fontAlgn="t">
                        <a:lnSpc>
                          <a:spcPts val="1650"/>
                        </a:lnSpc>
                        <a:buNone/>
                      </a:pPr>
                      <a:r>
                        <a:rPr lang="en-US" sz="1300">
                          <a:effectLst/>
                          <a:latin typeface="inherit"/>
                        </a:rPr>
                        <a:t>MQTT QoS 1 (AT_LEAST_ONCE)</a:t>
                      </a:r>
                    </a:p>
                  </a:txBody>
                  <a:tcPr marL="46990" marR="46990" marT="46990" marB="46990">
                    <a:lnL w="5639" cap="flat" cmpd="sng" algn="ctr">
                      <a:solidFill>
                        <a:srgbClr val="80EC8D"/>
                      </a:solidFill>
                      <a:prstDash val="solid"/>
                      <a:round/>
                      <a:headEnd type="none" w="med" len="med"/>
                      <a:tailEnd type="none" w="med" len="med"/>
                    </a:lnL>
                    <a:lnR>
                      <a:noFill/>
                    </a:lnR>
                    <a:lnT w="5639" cap="flat" cmpd="sng" algn="ctr">
                      <a:solidFill>
                        <a:srgbClr val="80EC8D"/>
                      </a:solidFill>
                      <a:prstDash val="solid"/>
                      <a:round/>
                      <a:headEnd type="none" w="med" len="med"/>
                      <a:tailEnd type="none" w="med" len="med"/>
                    </a:lnT>
                    <a:lnB w="5639" cap="flat" cmpd="sng" algn="ctr">
                      <a:solidFill>
                        <a:srgbClr val="E0ED8D"/>
                      </a:solidFill>
                      <a:prstDash val="solid"/>
                      <a:round/>
                      <a:headEnd type="none" w="med" len="med"/>
                      <a:tailEnd type="none" w="med" len="med"/>
                    </a:lnB>
                    <a:solidFill>
                      <a:srgbClr val="121212"/>
                    </a:solidFill>
                  </a:tcPr>
                </a:tc>
                <a:extLst>
                  <a:ext uri="{0D108BD9-81ED-4DB2-BD59-A6C34878D82A}">
                    <a16:rowId xmlns:a16="http://schemas.microsoft.com/office/drawing/2014/main" val="1964856482"/>
                  </a:ext>
                </a:extLst>
              </a:tr>
              <a:tr h="622181">
                <a:tc>
                  <a:txBody>
                    <a:bodyPr/>
                    <a:lstStyle/>
                    <a:p>
                      <a:pPr algn="l" fontAlgn="t">
                        <a:lnSpc>
                          <a:spcPts val="1650"/>
                        </a:lnSpc>
                        <a:buNone/>
                      </a:pPr>
                      <a:endParaRPr lang="en-IN" sz="1300">
                        <a:effectLst/>
                        <a:latin typeface="inherit"/>
                      </a:endParaRPr>
                    </a:p>
                  </a:txBody>
                  <a:tcPr marL="46990" marR="46990" marT="46990" marB="46990">
                    <a:lnL>
                      <a:noFill/>
                    </a:lnL>
                    <a:lnR w="5639" cap="flat" cmpd="sng" algn="ctr">
                      <a:solidFill>
                        <a:srgbClr val="60F38D"/>
                      </a:solidFill>
                      <a:prstDash val="solid"/>
                      <a:round/>
                      <a:headEnd type="none" w="med" len="med"/>
                      <a:tailEnd type="none" w="med" len="med"/>
                    </a:lnR>
                    <a:lnT w="5639" cap="flat" cmpd="sng" algn="ctr">
                      <a:solidFill>
                        <a:srgbClr val="008F0A"/>
                      </a:solidFill>
                      <a:prstDash val="solid"/>
                      <a:round/>
                      <a:headEnd type="none" w="med" len="med"/>
                      <a:tailEnd type="none" w="med" len="med"/>
                    </a:lnT>
                    <a:lnB w="5639" cap="flat" cmpd="sng" algn="ctr">
                      <a:solidFill>
                        <a:srgbClr val="F08B0A"/>
                      </a:solidFill>
                      <a:prstDash val="solid"/>
                      <a:round/>
                      <a:headEnd type="none" w="med" len="med"/>
                      <a:tailEnd type="none" w="med" len="med"/>
                    </a:lnB>
                    <a:solidFill>
                      <a:srgbClr val="121212"/>
                    </a:solidFill>
                  </a:tcPr>
                </a:tc>
                <a:tc>
                  <a:txBody>
                    <a:bodyPr/>
                    <a:lstStyle/>
                    <a:p>
                      <a:pPr algn="l" fontAlgn="t">
                        <a:lnSpc>
                          <a:spcPts val="1650"/>
                        </a:lnSpc>
                        <a:buNone/>
                      </a:pPr>
                      <a:r>
                        <a:rPr lang="en-IN" sz="1300" b="1" dirty="0">
                          <a:effectLst/>
                          <a:latin typeface="inherit"/>
                        </a:rPr>
                        <a:t>Decoupling</a:t>
                      </a:r>
                      <a:endParaRPr lang="en-IN" sz="1300" dirty="0">
                        <a:effectLst/>
                        <a:latin typeface="inherit"/>
                      </a:endParaRPr>
                    </a:p>
                  </a:txBody>
                  <a:tcPr marL="46990" marR="46990" marT="46990" marB="46990">
                    <a:lnL w="5639" cap="flat" cmpd="sng" algn="ctr">
                      <a:solidFill>
                        <a:srgbClr val="60F38D"/>
                      </a:solidFill>
                      <a:prstDash val="solid"/>
                      <a:round/>
                      <a:headEnd type="none" w="med" len="med"/>
                      <a:tailEnd type="none" w="med" len="med"/>
                    </a:lnL>
                    <a:lnR w="5639" cap="flat" cmpd="sng" algn="ctr">
                      <a:solidFill>
                        <a:srgbClr val="60F38D"/>
                      </a:solidFill>
                      <a:prstDash val="solid"/>
                      <a:round/>
                      <a:headEnd type="none" w="med" len="med"/>
                      <a:tailEnd type="none" w="med" len="med"/>
                    </a:lnR>
                    <a:lnT w="5639" cap="flat" cmpd="sng" algn="ctr">
                      <a:solidFill>
                        <a:srgbClr val="60F38D"/>
                      </a:solidFill>
                      <a:prstDash val="solid"/>
                      <a:round/>
                      <a:headEnd type="none" w="med" len="med"/>
                      <a:tailEnd type="none" w="med" len="med"/>
                    </a:lnT>
                    <a:lnB w="5639" cap="flat" cmpd="sng" algn="ctr">
                      <a:solidFill>
                        <a:srgbClr val="10DE8D"/>
                      </a:solidFill>
                      <a:prstDash val="solid"/>
                      <a:round/>
                      <a:headEnd type="none" w="med" len="med"/>
                      <a:tailEnd type="none" w="med" len="med"/>
                    </a:lnB>
                    <a:solidFill>
                      <a:srgbClr val="121212"/>
                    </a:solidFill>
                  </a:tcPr>
                </a:tc>
                <a:tc>
                  <a:txBody>
                    <a:bodyPr/>
                    <a:lstStyle/>
                    <a:p>
                      <a:pPr algn="l" fontAlgn="t">
                        <a:lnSpc>
                          <a:spcPts val="1650"/>
                        </a:lnSpc>
                        <a:buNone/>
                      </a:pPr>
                      <a:r>
                        <a:rPr lang="en-IN" sz="1300">
                          <a:effectLst/>
                          <a:latin typeface="inherit"/>
                        </a:rPr>
                        <a:t>Async message processing</a:t>
                      </a:r>
                    </a:p>
                  </a:txBody>
                  <a:tcPr marL="46990" marR="46990" marT="46990" marB="46990">
                    <a:lnL w="5639" cap="flat" cmpd="sng" algn="ctr">
                      <a:solidFill>
                        <a:srgbClr val="60F38D"/>
                      </a:solidFill>
                      <a:prstDash val="solid"/>
                      <a:round/>
                      <a:headEnd type="none" w="med" len="med"/>
                      <a:tailEnd type="none" w="med" len="med"/>
                    </a:lnL>
                    <a:lnR w="5639" cap="flat" cmpd="sng" algn="ctr">
                      <a:solidFill>
                        <a:srgbClr val="E0ED8D"/>
                      </a:solidFill>
                      <a:prstDash val="solid"/>
                      <a:round/>
                      <a:headEnd type="none" w="med" len="med"/>
                      <a:tailEnd type="none" w="med" len="med"/>
                    </a:lnR>
                    <a:lnT w="5639" cap="flat" cmpd="sng" algn="ctr">
                      <a:solidFill>
                        <a:srgbClr val="60F38D"/>
                      </a:solidFill>
                      <a:prstDash val="solid"/>
                      <a:round/>
                      <a:headEnd type="none" w="med" len="med"/>
                      <a:tailEnd type="none" w="med" len="med"/>
                    </a:lnT>
                    <a:lnB w="5639" cap="flat" cmpd="sng" algn="ctr">
                      <a:solidFill>
                        <a:srgbClr val="40FA8D"/>
                      </a:solidFill>
                      <a:prstDash val="solid"/>
                      <a:round/>
                      <a:headEnd type="none" w="med" len="med"/>
                      <a:tailEnd type="none" w="med" len="med"/>
                    </a:lnB>
                    <a:solidFill>
                      <a:srgbClr val="121212"/>
                    </a:solidFill>
                  </a:tcPr>
                </a:tc>
                <a:tc>
                  <a:txBody>
                    <a:bodyPr/>
                    <a:lstStyle/>
                    <a:p>
                      <a:pPr algn="l" fontAlgn="t">
                        <a:lnSpc>
                          <a:spcPts val="1650"/>
                        </a:lnSpc>
                        <a:buNone/>
                      </a:pPr>
                      <a:r>
                        <a:rPr lang="en-IN" sz="1300" b="1">
                          <a:effectLst/>
                          <a:latin typeface="inherit"/>
                        </a:rPr>
                        <a:t>SQS queue between components</a:t>
                      </a:r>
                      <a:endParaRPr lang="en-IN" sz="1300">
                        <a:effectLst/>
                        <a:latin typeface="inherit"/>
                      </a:endParaRPr>
                    </a:p>
                  </a:txBody>
                  <a:tcPr marL="46990" marR="46990" marT="46990" marB="46990">
                    <a:lnL w="5639" cap="flat" cmpd="sng" algn="ctr">
                      <a:solidFill>
                        <a:srgbClr val="E0ED8D"/>
                      </a:solidFill>
                      <a:prstDash val="solid"/>
                      <a:round/>
                      <a:headEnd type="none" w="med" len="med"/>
                      <a:tailEnd type="none" w="med" len="med"/>
                    </a:lnL>
                    <a:lnR>
                      <a:noFill/>
                    </a:lnR>
                    <a:lnT w="5639" cap="flat" cmpd="sng" algn="ctr">
                      <a:solidFill>
                        <a:srgbClr val="E0ED8D"/>
                      </a:solidFill>
                      <a:prstDash val="solid"/>
                      <a:round/>
                      <a:headEnd type="none" w="med" len="med"/>
                      <a:tailEnd type="none" w="med" len="med"/>
                    </a:lnT>
                    <a:lnB w="5639" cap="flat" cmpd="sng" algn="ctr">
                      <a:solidFill>
                        <a:srgbClr val="A0E58D"/>
                      </a:solidFill>
                      <a:prstDash val="solid"/>
                      <a:round/>
                      <a:headEnd type="none" w="med" len="med"/>
                      <a:tailEnd type="none" w="med" len="med"/>
                    </a:lnB>
                    <a:solidFill>
                      <a:srgbClr val="121212"/>
                    </a:solidFill>
                  </a:tcPr>
                </a:tc>
                <a:extLst>
                  <a:ext uri="{0D108BD9-81ED-4DB2-BD59-A6C34878D82A}">
                    <a16:rowId xmlns:a16="http://schemas.microsoft.com/office/drawing/2014/main" val="1346646629"/>
                  </a:ext>
                </a:extLst>
              </a:tr>
              <a:tr h="385148">
                <a:tc>
                  <a:txBody>
                    <a:bodyPr/>
                    <a:lstStyle/>
                    <a:p>
                      <a:pPr algn="l" fontAlgn="t">
                        <a:lnSpc>
                          <a:spcPts val="1650"/>
                        </a:lnSpc>
                        <a:buNone/>
                      </a:pPr>
                      <a:endParaRPr lang="en-IN" sz="1300">
                        <a:effectLst/>
                        <a:latin typeface="inherit"/>
                      </a:endParaRPr>
                    </a:p>
                  </a:txBody>
                  <a:tcPr marL="46990" marR="46990" marT="46990" marB="46990">
                    <a:lnL>
                      <a:noFill/>
                    </a:lnL>
                    <a:lnR w="5639" cap="flat" cmpd="sng" algn="ctr">
                      <a:solidFill>
                        <a:srgbClr val="10DE8D"/>
                      </a:solidFill>
                      <a:prstDash val="solid"/>
                      <a:round/>
                      <a:headEnd type="none" w="med" len="med"/>
                      <a:tailEnd type="none" w="med" len="med"/>
                    </a:lnR>
                    <a:lnT w="5639" cap="flat" cmpd="sng" algn="ctr">
                      <a:solidFill>
                        <a:srgbClr val="F08B0A"/>
                      </a:solidFill>
                      <a:prstDash val="solid"/>
                      <a:round/>
                      <a:headEnd type="none" w="med" len="med"/>
                      <a:tailEnd type="none" w="med" len="med"/>
                    </a:lnT>
                    <a:lnB>
                      <a:noFill/>
                    </a:lnB>
                    <a:solidFill>
                      <a:srgbClr val="121212"/>
                    </a:solidFill>
                  </a:tcPr>
                </a:tc>
                <a:tc>
                  <a:txBody>
                    <a:bodyPr/>
                    <a:lstStyle/>
                    <a:p>
                      <a:pPr algn="l" fontAlgn="t">
                        <a:lnSpc>
                          <a:spcPts val="1650"/>
                        </a:lnSpc>
                        <a:buNone/>
                      </a:pPr>
                      <a:r>
                        <a:rPr lang="en-IN" sz="1300" b="1" dirty="0">
                          <a:effectLst/>
                          <a:latin typeface="inherit"/>
                        </a:rPr>
                        <a:t>Fault tolerance</a:t>
                      </a:r>
                      <a:endParaRPr lang="en-IN" sz="1300" dirty="0">
                        <a:effectLst/>
                        <a:latin typeface="inherit"/>
                      </a:endParaRPr>
                    </a:p>
                  </a:txBody>
                  <a:tcPr marL="46990" marR="46990" marT="46990" marB="46990">
                    <a:lnL w="5639" cap="flat" cmpd="sng" algn="ctr">
                      <a:solidFill>
                        <a:srgbClr val="10DE8D"/>
                      </a:solidFill>
                      <a:prstDash val="solid"/>
                      <a:round/>
                      <a:headEnd type="none" w="med" len="med"/>
                      <a:tailEnd type="none" w="med" len="med"/>
                    </a:lnL>
                    <a:lnR w="5639" cap="flat" cmpd="sng" algn="ctr">
                      <a:solidFill>
                        <a:srgbClr val="40FA8D"/>
                      </a:solidFill>
                      <a:prstDash val="solid"/>
                      <a:round/>
                      <a:headEnd type="none" w="med" len="med"/>
                      <a:tailEnd type="none" w="med" len="med"/>
                    </a:lnR>
                    <a:lnT w="5639" cap="flat" cmpd="sng" algn="ctr">
                      <a:solidFill>
                        <a:srgbClr val="10DE8D"/>
                      </a:solidFill>
                      <a:prstDash val="solid"/>
                      <a:round/>
                      <a:headEnd type="none" w="med" len="med"/>
                      <a:tailEnd type="none" w="med" len="med"/>
                    </a:lnT>
                    <a:lnB>
                      <a:noFill/>
                    </a:lnB>
                    <a:solidFill>
                      <a:srgbClr val="121212"/>
                    </a:solidFill>
                  </a:tcPr>
                </a:tc>
                <a:tc>
                  <a:txBody>
                    <a:bodyPr/>
                    <a:lstStyle/>
                    <a:p>
                      <a:pPr algn="l" fontAlgn="t">
                        <a:lnSpc>
                          <a:spcPts val="1650"/>
                        </a:lnSpc>
                        <a:buNone/>
                      </a:pPr>
                      <a:r>
                        <a:rPr lang="en-IN" sz="1300">
                          <a:effectLst/>
                          <a:latin typeface="inherit"/>
                        </a:rPr>
                        <a:t>Retry on failure</a:t>
                      </a:r>
                    </a:p>
                  </a:txBody>
                  <a:tcPr marL="46990" marR="46990" marT="46990" marB="46990">
                    <a:lnL w="5639" cap="flat" cmpd="sng" algn="ctr">
                      <a:solidFill>
                        <a:srgbClr val="40FA8D"/>
                      </a:solidFill>
                      <a:prstDash val="solid"/>
                      <a:round/>
                      <a:headEnd type="none" w="med" len="med"/>
                      <a:tailEnd type="none" w="med" len="med"/>
                    </a:lnL>
                    <a:lnR w="5639" cap="flat" cmpd="sng" algn="ctr">
                      <a:solidFill>
                        <a:srgbClr val="A0E58D"/>
                      </a:solidFill>
                      <a:prstDash val="solid"/>
                      <a:round/>
                      <a:headEnd type="none" w="med" len="med"/>
                      <a:tailEnd type="none" w="med" len="med"/>
                    </a:lnR>
                    <a:lnT w="5639" cap="flat" cmpd="sng" algn="ctr">
                      <a:solidFill>
                        <a:srgbClr val="40FA8D"/>
                      </a:solidFill>
                      <a:prstDash val="solid"/>
                      <a:round/>
                      <a:headEnd type="none" w="med" len="med"/>
                      <a:tailEnd type="none" w="med" len="med"/>
                    </a:lnT>
                    <a:lnB>
                      <a:noFill/>
                    </a:lnB>
                    <a:solidFill>
                      <a:srgbClr val="121212"/>
                    </a:solidFill>
                  </a:tcPr>
                </a:tc>
                <a:tc>
                  <a:txBody>
                    <a:bodyPr/>
                    <a:lstStyle/>
                    <a:p>
                      <a:pPr algn="l" fontAlgn="t">
                        <a:lnSpc>
                          <a:spcPts val="1650"/>
                        </a:lnSpc>
                        <a:buNone/>
                      </a:pPr>
                      <a:r>
                        <a:rPr lang="en-IN" sz="1300" dirty="0">
                          <a:effectLst/>
                          <a:latin typeface="inherit"/>
                        </a:rPr>
                        <a:t>DynamoDB + SQS built-in retries</a:t>
                      </a:r>
                    </a:p>
                  </a:txBody>
                  <a:tcPr marL="46990" marR="46990" marT="46990" marB="46990">
                    <a:lnL w="5639" cap="flat" cmpd="sng" algn="ctr">
                      <a:solidFill>
                        <a:srgbClr val="A0E58D"/>
                      </a:solidFill>
                      <a:prstDash val="solid"/>
                      <a:round/>
                      <a:headEnd type="none" w="med" len="med"/>
                      <a:tailEnd type="none" w="med" len="med"/>
                    </a:lnL>
                    <a:lnR>
                      <a:noFill/>
                    </a:lnR>
                    <a:lnT w="5639" cap="flat" cmpd="sng" algn="ctr">
                      <a:solidFill>
                        <a:srgbClr val="A0E58D"/>
                      </a:solidFill>
                      <a:prstDash val="solid"/>
                      <a:round/>
                      <a:headEnd type="none" w="med" len="med"/>
                      <a:tailEnd type="none" w="med" len="med"/>
                    </a:lnT>
                    <a:lnB>
                      <a:noFill/>
                    </a:lnB>
                    <a:solidFill>
                      <a:srgbClr val="121212"/>
                    </a:solidFill>
                  </a:tcPr>
                </a:tc>
                <a:extLst>
                  <a:ext uri="{0D108BD9-81ED-4DB2-BD59-A6C34878D82A}">
                    <a16:rowId xmlns:a16="http://schemas.microsoft.com/office/drawing/2014/main" val="3488422092"/>
                  </a:ext>
                </a:extLst>
              </a:tr>
            </a:tbl>
          </a:graphicData>
        </a:graphic>
      </p:graphicFrame>
    </p:spTree>
    <p:extLst>
      <p:ext uri="{BB962C8B-B14F-4D97-AF65-F5344CB8AC3E}">
        <p14:creationId xmlns:p14="http://schemas.microsoft.com/office/powerpoint/2010/main" val="39083365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80000"/>
                <a:lumMod val="80000"/>
              </a:schemeClr>
              <a:schemeClr val="bg2">
                <a:tint val="98000"/>
              </a:schemeClr>
            </a:duotone>
          </a:blip>
          <a:stretch/>
        </a:blip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B9276B20-9786-561B-75C4-3259CA8DEBDF}"/>
              </a:ext>
            </a:extLst>
          </p:cNvPr>
          <p:cNvSpPr txBox="1"/>
          <p:nvPr/>
        </p:nvSpPr>
        <p:spPr>
          <a:xfrm>
            <a:off x="5146160" y="609600"/>
            <a:ext cx="5978072" cy="970450"/>
          </a:xfrm>
          <a:prstGeom prst="rect">
            <a:avLst/>
          </a:prstGeom>
        </p:spPr>
        <p:txBody>
          <a:bodyPr vert="horz" lIns="91440" tIns="45720" rIns="91440" bIns="45720" rtlCol="0" anchor="ctr">
            <a:normAutofit/>
          </a:bodyPr>
          <a:lstStyle/>
          <a:p>
            <a:pPr algn="ctr">
              <a:spcBef>
                <a:spcPct val="0"/>
              </a:spcBef>
              <a:spcAft>
                <a:spcPts val="600"/>
              </a:spcAft>
            </a:pPr>
            <a:r>
              <a:rPr lang="en-US" sz="4000" dirty="0">
                <a:ln>
                  <a:solidFill>
                    <a:schemeClr val="bg1">
                      <a:lumMod val="75000"/>
                      <a:lumOff val="25000"/>
                      <a:alpha val="10000"/>
                    </a:schemeClr>
                  </a:solidFill>
                </a:ln>
                <a:solidFill>
                  <a:schemeClr val="accent1">
                    <a:lumMod val="40000"/>
                    <a:lumOff val="60000"/>
                  </a:schemeClr>
                </a:solidFill>
                <a:effectLst>
                  <a:outerShdw blurRad="9525" dist="25400" dir="14640000" algn="tl" rotWithShape="0">
                    <a:schemeClr val="bg1">
                      <a:alpha val="30000"/>
                    </a:schemeClr>
                  </a:outerShdw>
                </a:effectLst>
                <a:latin typeface="+mj-lt"/>
                <a:ea typeface="+mj-ea"/>
              </a:rPr>
              <a:t>Sensors</a:t>
            </a:r>
          </a:p>
        </p:txBody>
      </p:sp>
      <p:pic>
        <p:nvPicPr>
          <p:cNvPr id="8" name="Picture 7" descr="Multi-color batteries">
            <a:extLst>
              <a:ext uri="{FF2B5EF4-FFF2-40B4-BE49-F238E27FC236}">
                <a16:creationId xmlns:a16="http://schemas.microsoft.com/office/drawing/2014/main" id="{22F9F2D9-76C2-AEE6-D863-D659F2A9357A}"/>
              </a:ext>
            </a:extLst>
          </p:cNvPr>
          <p:cNvPicPr>
            <a:picLocks noChangeAspect="1"/>
          </p:cNvPicPr>
          <p:nvPr/>
        </p:nvPicPr>
        <p:blipFill>
          <a:blip r:embed="rId3"/>
          <a:srcRect l="34834" r="20668" b="-2"/>
          <a:stretch>
            <a:fillRect/>
          </a:stretch>
        </p:blipFill>
        <p:spPr>
          <a:xfrm>
            <a:off x="-10649" y="1"/>
            <a:ext cx="4571649" cy="6858000"/>
          </a:xfrm>
          <a:prstGeom prst="rect">
            <a:avLst/>
          </a:prstGeom>
        </p:spPr>
      </p:pic>
      <p:sp>
        <p:nvSpPr>
          <p:cNvPr id="5" name="TextBox 4">
            <a:extLst>
              <a:ext uri="{FF2B5EF4-FFF2-40B4-BE49-F238E27FC236}">
                <a16:creationId xmlns:a16="http://schemas.microsoft.com/office/drawing/2014/main" id="{E8B3B17F-8AEC-F1D0-A9F3-E3911A76B1C6}"/>
              </a:ext>
            </a:extLst>
          </p:cNvPr>
          <p:cNvSpPr txBox="1"/>
          <p:nvPr/>
        </p:nvSpPr>
        <p:spPr>
          <a:xfrm>
            <a:off x="5146160" y="1828801"/>
            <a:ext cx="5978072" cy="3866048"/>
          </a:xfrm>
          <a:prstGeom prst="rect">
            <a:avLst/>
          </a:prstGeom>
        </p:spPr>
        <p:txBody>
          <a:bodyPr vert="horz" lIns="91440" tIns="45720" rIns="91440" bIns="45720" rtlCol="0" anchor="ctr">
            <a:normAutofit/>
          </a:bodyPr>
          <a:lstStyle/>
          <a:p>
            <a:pPr fontAlgn="base">
              <a:spcBef>
                <a:spcPct val="20000"/>
              </a:spcBef>
              <a:spcAft>
                <a:spcPts val="600"/>
              </a:spcAft>
              <a:buClr>
                <a:srgbClr val="559AE6"/>
              </a:buClr>
              <a:buSzPct val="70000"/>
              <a:buFont typeface="Wingdings 2" charset="2"/>
              <a:buNone/>
            </a:pPr>
            <a:r>
              <a:rPr lang="en-US" b="1" i="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From </a:t>
            </a:r>
            <a:r>
              <a:rPr lang="en-US" b="1" i="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OpenWeatherMap</a:t>
            </a:r>
            <a:r>
              <a:rPr lang="en-US" b="1" i="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API (Real):</a:t>
            </a:r>
            <a:endParaRPr lang="en-US" b="0" i="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fontAlgn="base">
              <a:spcBef>
                <a:spcPct val="20000"/>
              </a:spcBef>
              <a:spcAft>
                <a:spcPts val="600"/>
              </a:spcAft>
              <a:buClr>
                <a:srgbClr val="559AE6"/>
              </a:buClr>
              <a:buSzPct val="70000"/>
              <a:buFont typeface="Wingdings 2" charset="2"/>
              <a:buChar char="•"/>
            </a:pPr>
            <a:r>
              <a:rPr lang="en-US" b="0" i="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Temperature (°C) </a:t>
            </a:r>
            <a:r>
              <a:rPr lang="en-IN" b="1" dirty="0">
                <a:latin typeface="inherit"/>
              </a:rPr>
              <a:t>DHT22</a:t>
            </a:r>
            <a:endParaRPr lang="en-US" b="0" i="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fontAlgn="base">
              <a:spcBef>
                <a:spcPct val="20000"/>
              </a:spcBef>
              <a:spcAft>
                <a:spcPts val="600"/>
              </a:spcAft>
              <a:buClr>
                <a:srgbClr val="559AE6"/>
              </a:buClr>
              <a:buSzPct val="70000"/>
              <a:buFont typeface="Wingdings 2" charset="2"/>
              <a:buChar char="•"/>
            </a:pPr>
            <a:r>
              <a:rPr lang="en-US" b="0" i="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Humidity (%) </a:t>
            </a:r>
            <a:r>
              <a:rPr lang="en-IN" b="1" dirty="0">
                <a:latin typeface="inherit"/>
              </a:rPr>
              <a:t>DHT22</a:t>
            </a:r>
            <a:endParaRPr lang="en-US" b="0" i="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fontAlgn="base">
              <a:spcBef>
                <a:spcPct val="20000"/>
              </a:spcBef>
              <a:spcAft>
                <a:spcPts val="600"/>
              </a:spcAft>
              <a:buClr>
                <a:srgbClr val="559AE6"/>
              </a:buClr>
              <a:buSzPct val="70000"/>
              <a:buFont typeface="Wingdings 2" charset="2"/>
              <a:buChar char="•"/>
            </a:pPr>
            <a:r>
              <a:rPr lang="en-US" b="0" i="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UV Index </a:t>
            </a:r>
            <a:r>
              <a:rPr lang="en-IN" b="1" dirty="0">
                <a:latin typeface="inherit"/>
              </a:rPr>
              <a:t>SI1145</a:t>
            </a:r>
            <a:endParaRPr lang="en-US" b="0" i="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fontAlgn="base">
              <a:spcBef>
                <a:spcPct val="20000"/>
              </a:spcBef>
              <a:spcAft>
                <a:spcPts val="600"/>
              </a:spcAft>
              <a:buClr>
                <a:srgbClr val="559AE6"/>
              </a:buClr>
              <a:buSzPct val="70000"/>
              <a:buFont typeface="Wingdings 2" charset="2"/>
              <a:buChar char="•"/>
            </a:pPr>
            <a:r>
              <a:rPr lang="en-US" b="0" i="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Wind Speed (m/s)</a:t>
            </a:r>
          </a:p>
          <a:p>
            <a:pPr fontAlgn="base">
              <a:spcBef>
                <a:spcPct val="20000"/>
              </a:spcBef>
              <a:spcAft>
                <a:spcPts val="600"/>
              </a:spcAft>
              <a:buClr>
                <a:srgbClr val="559AE6"/>
              </a:buClr>
              <a:buSzPct val="70000"/>
              <a:buFont typeface="Wingdings 2" charset="2"/>
              <a:buNone/>
            </a:pPr>
            <a:r>
              <a:rPr lang="en-US" b="1" i="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Simulated Manually:</a:t>
            </a:r>
            <a:endParaRPr lang="en-US" b="0" i="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fontAlgn="base">
              <a:spcBef>
                <a:spcPct val="20000"/>
              </a:spcBef>
              <a:spcAft>
                <a:spcPts val="600"/>
              </a:spcAft>
              <a:buClr>
                <a:srgbClr val="559AE6"/>
              </a:buClr>
              <a:buSzPct val="70000"/>
              <a:buFont typeface="Wingdings 2" charset="2"/>
              <a:buChar char="•"/>
            </a:pPr>
            <a:r>
              <a:rPr lang="en-US" b="0" i="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Soil Moisture % (capacitive sensor simulation)</a:t>
            </a:r>
          </a:p>
          <a:p>
            <a:pPr fontAlgn="base">
              <a:spcBef>
                <a:spcPct val="20000"/>
              </a:spcBef>
              <a:spcAft>
                <a:spcPts val="600"/>
              </a:spcAft>
              <a:buClr>
                <a:srgbClr val="559AE6"/>
              </a:buClr>
              <a:buSzPct val="70000"/>
              <a:buFont typeface="Wingdings 2" charset="2"/>
              <a:buChar char="•"/>
            </a:pPr>
            <a:r>
              <a:rPr lang="en-US" b="0" i="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PM2.5 Air Quality (would need separate air quality API)</a:t>
            </a:r>
          </a:p>
          <a:p>
            <a:pPr fontAlgn="base">
              <a:spcBef>
                <a:spcPct val="20000"/>
              </a:spcBef>
              <a:spcAft>
                <a:spcPts val="600"/>
              </a:spcAft>
              <a:buClr>
                <a:srgbClr val="559AE6"/>
              </a:buClr>
              <a:buSzPct val="70000"/>
              <a:buFont typeface="Wingdings 2" charset="2"/>
              <a:buChar char="•"/>
            </a:pPr>
            <a:r>
              <a:rPr lang="en-US" b="0" i="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Battery level &amp; signal strength (device metadata)</a:t>
            </a:r>
          </a:p>
        </p:txBody>
      </p:sp>
      <p:pic>
        <p:nvPicPr>
          <p:cNvPr id="12" name="Picture 11">
            <a:extLst>
              <a:ext uri="{FF2B5EF4-FFF2-40B4-BE49-F238E27FC236}">
                <a16:creationId xmlns:a16="http://schemas.microsoft.com/office/drawing/2014/main" id="{559DF61F-9058-49C9-8F75-DC501F983B0E}"/>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t="964" r="2807" b="1446"/>
          <a:stretch/>
        </p:blipFill>
        <p:spPr>
          <a:xfrm>
            <a:off x="-10649" y="1"/>
            <a:ext cx="4690532" cy="6858000"/>
          </a:xfrm>
          <a:prstGeom prst="rect">
            <a:avLst/>
          </a:prstGeom>
        </p:spPr>
      </p:pic>
    </p:spTree>
    <p:extLst>
      <p:ext uri="{BB962C8B-B14F-4D97-AF65-F5344CB8AC3E}">
        <p14:creationId xmlns:p14="http://schemas.microsoft.com/office/powerpoint/2010/main" val="30408785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88B4C2-E96C-BBE5-0400-D79A95236451}"/>
              </a:ext>
            </a:extLst>
          </p:cNvPr>
          <p:cNvSpPr>
            <a:spLocks noGrp="1"/>
          </p:cNvSpPr>
          <p:nvPr>
            <p:ph type="title"/>
          </p:nvPr>
        </p:nvSpPr>
        <p:spPr>
          <a:xfrm>
            <a:off x="0" y="146356"/>
            <a:ext cx="10353762" cy="970450"/>
          </a:xfrm>
        </p:spPr>
        <p:txBody>
          <a:bodyPr>
            <a:normAutofit fontScale="90000"/>
          </a:bodyPr>
          <a:lstStyle/>
          <a:p>
            <a:r>
              <a:rPr lang="en-IN" dirty="0">
                <a:effectLst/>
              </a:rPr>
              <a:t>SMARTPARK: BLUR &amp; SCALE PRINCIPLES</a:t>
            </a:r>
            <a:br>
              <a:rPr lang="en-IN" dirty="0">
                <a:effectLst/>
              </a:rPr>
            </a:br>
            <a:endParaRPr lang="en-IN" dirty="0"/>
          </a:p>
        </p:txBody>
      </p:sp>
      <p:pic>
        <p:nvPicPr>
          <p:cNvPr id="5" name="Content Placeholder 4">
            <a:extLst>
              <a:ext uri="{FF2B5EF4-FFF2-40B4-BE49-F238E27FC236}">
                <a16:creationId xmlns:a16="http://schemas.microsoft.com/office/drawing/2014/main" id="{FA5D5CD1-535C-603A-6631-27F2BC1CCD52}"/>
              </a:ext>
            </a:extLst>
          </p:cNvPr>
          <p:cNvPicPr>
            <a:picLocks noGrp="1" noChangeAspect="1"/>
          </p:cNvPicPr>
          <p:nvPr>
            <p:ph idx="1"/>
          </p:nvPr>
        </p:nvPicPr>
        <p:blipFill>
          <a:blip r:embed="rId2"/>
          <a:stretch>
            <a:fillRect/>
          </a:stretch>
        </p:blipFill>
        <p:spPr>
          <a:xfrm>
            <a:off x="1969124" y="1116806"/>
            <a:ext cx="7697390" cy="5131594"/>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40817683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16923A-C425-EA25-824D-ED828EF167E5}"/>
              </a:ext>
            </a:extLst>
          </p:cNvPr>
          <p:cNvSpPr>
            <a:spLocks noGrp="1"/>
          </p:cNvSpPr>
          <p:nvPr>
            <p:ph type="title"/>
          </p:nvPr>
        </p:nvSpPr>
        <p:spPr/>
        <p:txBody>
          <a:bodyPr>
            <a:normAutofit fontScale="90000"/>
          </a:bodyPr>
          <a:lstStyle/>
          <a:p>
            <a:r>
              <a:rPr lang="en-US" b="1" dirty="0">
                <a:effectLst/>
              </a:rPr>
              <a:t>Challenges and Solutions</a:t>
            </a:r>
            <a:br>
              <a:rPr lang="en-US" b="1" dirty="0">
                <a:effectLst/>
              </a:rPr>
            </a:br>
            <a:endParaRPr lang="en-IN" dirty="0"/>
          </a:p>
        </p:txBody>
      </p:sp>
      <p:sp>
        <p:nvSpPr>
          <p:cNvPr id="3" name="Content Placeholder 2">
            <a:extLst>
              <a:ext uri="{FF2B5EF4-FFF2-40B4-BE49-F238E27FC236}">
                <a16:creationId xmlns:a16="http://schemas.microsoft.com/office/drawing/2014/main" id="{995915D5-EB40-99F6-44E4-EB40790CD1DC}"/>
              </a:ext>
            </a:extLst>
          </p:cNvPr>
          <p:cNvSpPr>
            <a:spLocks noGrp="1"/>
          </p:cNvSpPr>
          <p:nvPr>
            <p:ph idx="1"/>
          </p:nvPr>
        </p:nvSpPr>
        <p:spPr/>
        <p:txBody>
          <a:bodyPr>
            <a:normAutofit lnSpcReduction="10000"/>
          </a:bodyPr>
          <a:lstStyle/>
          <a:p>
            <a:pPr fontAlgn="base"/>
            <a:r>
              <a:rPr lang="en-US" dirty="0">
                <a:effectLst/>
              </a:rPr>
              <a:t>During implementation, several technical challenges emerged that required iterative problem-solving. </a:t>
            </a:r>
            <a:r>
              <a:rPr lang="en-US" b="1" dirty="0">
                <a:effectLst/>
              </a:rPr>
              <a:t>First</a:t>
            </a:r>
            <a:r>
              <a:rPr lang="en-US" dirty="0">
                <a:effectLst/>
              </a:rPr>
              <a:t>, the AWS IoT SDK's publish() method returns a tuple (future, </a:t>
            </a:r>
            <a:r>
              <a:rPr lang="en-US" dirty="0" err="1">
                <a:effectLst/>
              </a:rPr>
              <a:t>packet_id</a:t>
            </a:r>
            <a:r>
              <a:rPr lang="en-US" dirty="0">
                <a:effectLst/>
              </a:rPr>
              <a:t>) rather than a single object, which initially caused </a:t>
            </a:r>
            <a:r>
              <a:rPr lang="en-US" dirty="0" err="1">
                <a:effectLst/>
              </a:rPr>
              <a:t>AttributeError</a:t>
            </a:r>
            <a:r>
              <a:rPr lang="en-US" dirty="0">
                <a:effectLst/>
              </a:rPr>
              <a:t> when calling .result() directly—this was resolved by properly unpacking the tuple before awaiting the future. </a:t>
            </a:r>
          </a:p>
          <a:p>
            <a:pPr fontAlgn="base"/>
            <a:r>
              <a:rPr lang="en-US" b="1" dirty="0">
                <a:effectLst/>
              </a:rPr>
              <a:t>Second</a:t>
            </a:r>
            <a:r>
              <a:rPr lang="en-US" dirty="0">
                <a:effectLst/>
              </a:rPr>
              <a:t>, DynamoDB's strict typing rejected Python float values, necessitating conversion to Decimal types using a recursive </a:t>
            </a:r>
            <a:r>
              <a:rPr lang="en-US" dirty="0" err="1">
                <a:effectLst/>
              </a:rPr>
              <a:t>float_to_decimal</a:t>
            </a:r>
            <a:r>
              <a:rPr lang="en-US" dirty="0">
                <a:effectLst/>
              </a:rPr>
              <a:t>() helper function. </a:t>
            </a:r>
            <a:r>
              <a:rPr lang="en-US" b="1" dirty="0">
                <a:effectLst/>
              </a:rPr>
              <a:t>Third</a:t>
            </a:r>
            <a:r>
              <a:rPr lang="en-US" dirty="0">
                <a:effectLst/>
              </a:rPr>
              <a:t>, GitHub's secret scanning blocked commits containing hardcoded AWS credentials, requiring migration to GitHub Secrets for secure CICD authentication</a:t>
            </a:r>
            <a:r>
              <a:rPr lang="en-US">
                <a:effectLst/>
              </a:rPr>
              <a:t>. </a:t>
            </a:r>
          </a:p>
          <a:p>
            <a:pPr fontAlgn="base"/>
            <a:r>
              <a:rPr lang="en-US" b="1">
                <a:effectLst/>
              </a:rPr>
              <a:t>Finally</a:t>
            </a:r>
            <a:r>
              <a:rPr lang="en-US" dirty="0">
                <a:effectLst/>
              </a:rPr>
              <a:t>, Elastic Beanstalk deployment failed due to version label length limits (100 characters), which was solved by using shorter labels based on GitHub run numbers rather than full commit SHAs. These experiences reinforced the importance of careful API documentation review and robust error handling in cloud-native applications.</a:t>
            </a:r>
          </a:p>
          <a:p>
            <a:endParaRPr lang="en-IN" dirty="0"/>
          </a:p>
        </p:txBody>
      </p:sp>
    </p:spTree>
    <p:extLst>
      <p:ext uri="{BB962C8B-B14F-4D97-AF65-F5344CB8AC3E}">
        <p14:creationId xmlns:p14="http://schemas.microsoft.com/office/powerpoint/2010/main" val="1643194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80000"/>
                <a:lumMod val="80000"/>
              </a:schemeClr>
              <a:schemeClr val="bg2">
                <a:tint val="98000"/>
              </a:schemeClr>
            </a:duotone>
          </a:blip>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A1A3D2-4B6E-D2F2-7729-CAC3A41A31DD}"/>
              </a:ext>
            </a:extLst>
          </p:cNvPr>
          <p:cNvSpPr>
            <a:spLocks noGrp="1"/>
          </p:cNvSpPr>
          <p:nvPr>
            <p:ph type="title"/>
          </p:nvPr>
        </p:nvSpPr>
        <p:spPr>
          <a:xfrm>
            <a:off x="707900" y="4208220"/>
            <a:ext cx="3946393" cy="1850651"/>
          </a:xfrm>
        </p:spPr>
        <p:txBody>
          <a:bodyPr>
            <a:normAutofit/>
          </a:bodyPr>
          <a:lstStyle/>
          <a:p>
            <a:pPr algn="l"/>
            <a:r>
              <a:rPr lang="en-US" sz="3600"/>
              <a:t>Business Logic And Future Applications</a:t>
            </a:r>
            <a:endParaRPr lang="en-IN" sz="3600"/>
          </a:p>
        </p:txBody>
      </p:sp>
      <p:pic>
        <p:nvPicPr>
          <p:cNvPr id="7" name="Content Placeholder 6">
            <a:extLst>
              <a:ext uri="{FF2B5EF4-FFF2-40B4-BE49-F238E27FC236}">
                <a16:creationId xmlns:a16="http://schemas.microsoft.com/office/drawing/2014/main" id="{F3709ADF-850E-5E81-1C7C-3DAB3D6D8178}"/>
              </a:ext>
            </a:extLst>
          </p:cNvPr>
          <p:cNvPicPr>
            <a:picLocks noChangeAspect="1"/>
          </p:cNvPicPr>
          <p:nvPr/>
        </p:nvPicPr>
        <p:blipFill>
          <a:blip r:embed="rId3"/>
          <a:stretch>
            <a:fillRect/>
          </a:stretch>
        </p:blipFill>
        <p:spPr>
          <a:xfrm>
            <a:off x="643468" y="1001508"/>
            <a:ext cx="10926860" cy="2321957"/>
          </a:xfrm>
          <a:prstGeom prst="rect">
            <a:avLst/>
          </a:prstGeom>
        </p:spPr>
      </p:pic>
      <p:pic>
        <p:nvPicPr>
          <p:cNvPr id="14" name="Picture 13">
            <a:extLst>
              <a:ext uri="{FF2B5EF4-FFF2-40B4-BE49-F238E27FC236}">
                <a16:creationId xmlns:a16="http://schemas.microsoft.com/office/drawing/2014/main" id="{171DCFFF-18C6-857F-2C5D-32C3DB784FB9}"/>
              </a:ext>
            </a:extLst>
          </p:cNvPr>
          <p:cNvPicPr>
            <a:picLocks noChangeAspect="1"/>
          </p:cNvPicPr>
          <p:nvPr/>
        </p:nvPicPr>
        <p:blipFill>
          <a:blip r:embed="rId4"/>
          <a:stretch>
            <a:fillRect/>
          </a:stretch>
        </p:blipFill>
        <p:spPr>
          <a:xfrm>
            <a:off x="9599640" y="4208220"/>
            <a:ext cx="2233132" cy="2233132"/>
          </a:xfrm>
          <a:prstGeom prst="rect">
            <a:avLst/>
          </a:prstGeom>
        </p:spPr>
      </p:pic>
    </p:spTree>
    <p:extLst>
      <p:ext uri="{BB962C8B-B14F-4D97-AF65-F5344CB8AC3E}">
        <p14:creationId xmlns:p14="http://schemas.microsoft.com/office/powerpoint/2010/main" val="163650116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docProps/app.xml><?xml version="1.0" encoding="utf-8"?>
<Properties xmlns="http://schemas.openxmlformats.org/officeDocument/2006/extended-properties" xmlns:vt="http://schemas.openxmlformats.org/officeDocument/2006/docPropsVTypes">
  <Template>Slate</Template>
  <TotalTime>6902</TotalTime>
  <Words>494</Words>
  <Application>Microsoft Office PowerPoint</Application>
  <PresentationFormat>Widescreen</PresentationFormat>
  <Paragraphs>74</Paragraphs>
  <Slides>8</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vt:i4>
      </vt:variant>
    </vt:vector>
  </HeadingPairs>
  <TitlesOfParts>
    <vt:vector size="14" baseType="lpstr">
      <vt:lpstr>Arial</vt:lpstr>
      <vt:lpstr>Calisto MT</vt:lpstr>
      <vt:lpstr>Courier New</vt:lpstr>
      <vt:lpstr>inherit</vt:lpstr>
      <vt:lpstr>Wingdings 2</vt:lpstr>
      <vt:lpstr>Slate</vt:lpstr>
      <vt:lpstr>Fog And Edge:  SmartPark </vt:lpstr>
      <vt:lpstr>✅ FUNCTIONAL REQUIREMENTS </vt:lpstr>
      <vt:lpstr>HLD</vt:lpstr>
      <vt:lpstr>⚡ NON-FUNCTIONAL REQUIREMENTS </vt:lpstr>
      <vt:lpstr>PowerPoint Presentation</vt:lpstr>
      <vt:lpstr>SMARTPARK: BLUR &amp; SCALE PRINCIPLES </vt:lpstr>
      <vt:lpstr>Challenges and Solutions </vt:lpstr>
      <vt:lpstr>Business Logic And Future Applications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Jeevanjot Singh .</dc:creator>
  <cp:lastModifiedBy>Jeevanjot Singh .</cp:lastModifiedBy>
  <cp:revision>3</cp:revision>
  <dcterms:created xsi:type="dcterms:W3CDTF">2026-04-13T03:54:44Z</dcterms:created>
  <dcterms:modified xsi:type="dcterms:W3CDTF">2026-04-17T22:57:04Z</dcterms:modified>
</cp:coreProperties>
</file>